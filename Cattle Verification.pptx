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64" r:id="rId3"/>
    <p:sldId id="262" r:id="rId4"/>
    <p:sldId id="265" r:id="rId5"/>
    <p:sldId id="260" r:id="rId6"/>
    <p:sldId id="270" r:id="rId7"/>
    <p:sldId id="256" r:id="rId8"/>
    <p:sldId id="257" r:id="rId9"/>
    <p:sldId id="259" r:id="rId10"/>
    <p:sldId id="263" r:id="rId11"/>
    <p:sldId id="261"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4" d="100"/>
          <a:sy n="114" d="100"/>
        </p:scale>
        <p:origin x="47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71CC7-5B45-461D-91DC-6462AA0594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D63C077-08C3-4D52-9412-C11D92DC33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713926D-DE75-4C97-BAD1-1B3FAF61D5A6}"/>
              </a:ext>
            </a:extLst>
          </p:cNvPr>
          <p:cNvSpPr>
            <a:spLocks noGrp="1"/>
          </p:cNvSpPr>
          <p:nvPr>
            <p:ph type="dt" sz="half" idx="10"/>
          </p:nvPr>
        </p:nvSpPr>
        <p:spPr/>
        <p:txBody>
          <a:bodyPr/>
          <a:lstStyle/>
          <a:p>
            <a:fld id="{9D95FF46-2013-4686-9C0D-D3A5B391801C}" type="datetimeFigureOut">
              <a:rPr lang="en-IN" smtClean="0"/>
              <a:t>25-10-2025</a:t>
            </a:fld>
            <a:endParaRPr lang="en-IN"/>
          </a:p>
        </p:txBody>
      </p:sp>
      <p:sp>
        <p:nvSpPr>
          <p:cNvPr id="5" name="Footer Placeholder 4">
            <a:extLst>
              <a:ext uri="{FF2B5EF4-FFF2-40B4-BE49-F238E27FC236}">
                <a16:creationId xmlns:a16="http://schemas.microsoft.com/office/drawing/2014/main" id="{60D8E638-4DD7-4E81-BAFF-6993BB9DB9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729189-253D-4278-AA25-F0446C892B8C}"/>
              </a:ext>
            </a:extLst>
          </p:cNvPr>
          <p:cNvSpPr>
            <a:spLocks noGrp="1"/>
          </p:cNvSpPr>
          <p:nvPr>
            <p:ph type="sldNum" sz="quarter" idx="12"/>
          </p:nvPr>
        </p:nvSpPr>
        <p:spPr/>
        <p:txBody>
          <a:bodyPr/>
          <a:lstStyle/>
          <a:p>
            <a:fld id="{022AD812-2FDD-4539-A6BD-45CFDB6E502C}" type="slidenum">
              <a:rPr lang="en-IN" smtClean="0"/>
              <a:t>‹#›</a:t>
            </a:fld>
            <a:endParaRPr lang="en-IN"/>
          </a:p>
        </p:txBody>
      </p:sp>
    </p:spTree>
    <p:extLst>
      <p:ext uri="{BB962C8B-B14F-4D97-AF65-F5344CB8AC3E}">
        <p14:creationId xmlns:p14="http://schemas.microsoft.com/office/powerpoint/2010/main" val="4160180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FFB4B-25F0-4823-A405-A0FC349B61E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E21E5F3-BDD2-43D5-B794-4D5C81A987D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123C4C-6F0F-444F-90C4-3510779823DB}"/>
              </a:ext>
            </a:extLst>
          </p:cNvPr>
          <p:cNvSpPr>
            <a:spLocks noGrp="1"/>
          </p:cNvSpPr>
          <p:nvPr>
            <p:ph type="dt" sz="half" idx="10"/>
          </p:nvPr>
        </p:nvSpPr>
        <p:spPr/>
        <p:txBody>
          <a:bodyPr/>
          <a:lstStyle/>
          <a:p>
            <a:fld id="{9D95FF46-2013-4686-9C0D-D3A5B391801C}" type="datetimeFigureOut">
              <a:rPr lang="en-IN" smtClean="0"/>
              <a:t>25-10-2025</a:t>
            </a:fld>
            <a:endParaRPr lang="en-IN"/>
          </a:p>
        </p:txBody>
      </p:sp>
      <p:sp>
        <p:nvSpPr>
          <p:cNvPr id="5" name="Footer Placeholder 4">
            <a:extLst>
              <a:ext uri="{FF2B5EF4-FFF2-40B4-BE49-F238E27FC236}">
                <a16:creationId xmlns:a16="http://schemas.microsoft.com/office/drawing/2014/main" id="{B2BC7953-AE50-4B46-9C9A-D002763087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D4A5CD-B727-4FC2-BF6F-B6F3A9D81DFB}"/>
              </a:ext>
            </a:extLst>
          </p:cNvPr>
          <p:cNvSpPr>
            <a:spLocks noGrp="1"/>
          </p:cNvSpPr>
          <p:nvPr>
            <p:ph type="sldNum" sz="quarter" idx="12"/>
          </p:nvPr>
        </p:nvSpPr>
        <p:spPr/>
        <p:txBody>
          <a:bodyPr/>
          <a:lstStyle/>
          <a:p>
            <a:fld id="{022AD812-2FDD-4539-A6BD-45CFDB6E502C}" type="slidenum">
              <a:rPr lang="en-IN" smtClean="0"/>
              <a:t>‹#›</a:t>
            </a:fld>
            <a:endParaRPr lang="en-IN"/>
          </a:p>
        </p:txBody>
      </p:sp>
    </p:spTree>
    <p:extLst>
      <p:ext uri="{BB962C8B-B14F-4D97-AF65-F5344CB8AC3E}">
        <p14:creationId xmlns:p14="http://schemas.microsoft.com/office/powerpoint/2010/main" val="496250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90369-6AC2-495B-85B6-E329F7C6D6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79AEE6A-F567-47C4-8A32-49BD510E4F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E227A41-6D54-4D7A-A5AD-3A5DD5B5D9FD}"/>
              </a:ext>
            </a:extLst>
          </p:cNvPr>
          <p:cNvSpPr>
            <a:spLocks noGrp="1"/>
          </p:cNvSpPr>
          <p:nvPr>
            <p:ph type="dt" sz="half" idx="10"/>
          </p:nvPr>
        </p:nvSpPr>
        <p:spPr/>
        <p:txBody>
          <a:bodyPr/>
          <a:lstStyle/>
          <a:p>
            <a:fld id="{9D95FF46-2013-4686-9C0D-D3A5B391801C}" type="datetimeFigureOut">
              <a:rPr lang="en-IN" smtClean="0"/>
              <a:t>25-10-2025</a:t>
            </a:fld>
            <a:endParaRPr lang="en-IN"/>
          </a:p>
        </p:txBody>
      </p:sp>
      <p:sp>
        <p:nvSpPr>
          <p:cNvPr id="5" name="Footer Placeholder 4">
            <a:extLst>
              <a:ext uri="{FF2B5EF4-FFF2-40B4-BE49-F238E27FC236}">
                <a16:creationId xmlns:a16="http://schemas.microsoft.com/office/drawing/2014/main" id="{86CDECD5-52F0-43B8-8B6E-12BD659A2B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146981-FB5A-4D06-98B9-225970383002}"/>
              </a:ext>
            </a:extLst>
          </p:cNvPr>
          <p:cNvSpPr>
            <a:spLocks noGrp="1"/>
          </p:cNvSpPr>
          <p:nvPr>
            <p:ph type="sldNum" sz="quarter" idx="12"/>
          </p:nvPr>
        </p:nvSpPr>
        <p:spPr/>
        <p:txBody>
          <a:bodyPr/>
          <a:lstStyle/>
          <a:p>
            <a:fld id="{022AD812-2FDD-4539-A6BD-45CFDB6E502C}" type="slidenum">
              <a:rPr lang="en-IN" smtClean="0"/>
              <a:t>‹#›</a:t>
            </a:fld>
            <a:endParaRPr lang="en-IN"/>
          </a:p>
        </p:txBody>
      </p:sp>
    </p:spTree>
    <p:extLst>
      <p:ext uri="{BB962C8B-B14F-4D97-AF65-F5344CB8AC3E}">
        <p14:creationId xmlns:p14="http://schemas.microsoft.com/office/powerpoint/2010/main" val="1129342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845FA-6D7A-4EA5-BC29-F7351463EE4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9053C3D-6450-49C8-B69D-443527E756B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BE6590A-DD7A-487A-A23B-2A86DB5DE1A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14110C4-7E38-4D5D-9490-AC80BACA0AFF}"/>
              </a:ext>
            </a:extLst>
          </p:cNvPr>
          <p:cNvSpPr>
            <a:spLocks noGrp="1"/>
          </p:cNvSpPr>
          <p:nvPr>
            <p:ph type="dt" sz="half" idx="10"/>
          </p:nvPr>
        </p:nvSpPr>
        <p:spPr/>
        <p:txBody>
          <a:bodyPr/>
          <a:lstStyle/>
          <a:p>
            <a:fld id="{9D95FF46-2013-4686-9C0D-D3A5B391801C}" type="datetimeFigureOut">
              <a:rPr lang="en-IN" smtClean="0"/>
              <a:t>25-10-2025</a:t>
            </a:fld>
            <a:endParaRPr lang="en-IN"/>
          </a:p>
        </p:txBody>
      </p:sp>
      <p:sp>
        <p:nvSpPr>
          <p:cNvPr id="6" name="Footer Placeholder 5">
            <a:extLst>
              <a:ext uri="{FF2B5EF4-FFF2-40B4-BE49-F238E27FC236}">
                <a16:creationId xmlns:a16="http://schemas.microsoft.com/office/drawing/2014/main" id="{E7FD6D31-6704-4840-8936-A7E0DCF862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B71F45-43E5-42D7-B567-E3CBD2FEB297}"/>
              </a:ext>
            </a:extLst>
          </p:cNvPr>
          <p:cNvSpPr>
            <a:spLocks noGrp="1"/>
          </p:cNvSpPr>
          <p:nvPr>
            <p:ph type="sldNum" sz="quarter" idx="12"/>
          </p:nvPr>
        </p:nvSpPr>
        <p:spPr/>
        <p:txBody>
          <a:bodyPr/>
          <a:lstStyle/>
          <a:p>
            <a:fld id="{022AD812-2FDD-4539-A6BD-45CFDB6E502C}" type="slidenum">
              <a:rPr lang="en-IN" smtClean="0"/>
              <a:t>‹#›</a:t>
            </a:fld>
            <a:endParaRPr lang="en-IN"/>
          </a:p>
        </p:txBody>
      </p:sp>
    </p:spTree>
    <p:extLst>
      <p:ext uri="{BB962C8B-B14F-4D97-AF65-F5344CB8AC3E}">
        <p14:creationId xmlns:p14="http://schemas.microsoft.com/office/powerpoint/2010/main" val="325869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A922C-89BC-428B-8B7D-63B70ABA93A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DC3E7A6-FB6C-4640-8A82-E2481F0E18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61E6740-0746-4575-A0CB-4BA3C948BE5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F1313AF-5F27-4A29-8011-C52677806E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0E7F9BD-2412-4FA2-AF6A-9E8FDBA6363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996749B-AC43-403C-A523-C006BD6CCEA9}"/>
              </a:ext>
            </a:extLst>
          </p:cNvPr>
          <p:cNvSpPr>
            <a:spLocks noGrp="1"/>
          </p:cNvSpPr>
          <p:nvPr>
            <p:ph type="dt" sz="half" idx="10"/>
          </p:nvPr>
        </p:nvSpPr>
        <p:spPr/>
        <p:txBody>
          <a:bodyPr/>
          <a:lstStyle/>
          <a:p>
            <a:fld id="{9D95FF46-2013-4686-9C0D-D3A5B391801C}" type="datetimeFigureOut">
              <a:rPr lang="en-IN" smtClean="0"/>
              <a:t>25-10-2025</a:t>
            </a:fld>
            <a:endParaRPr lang="en-IN"/>
          </a:p>
        </p:txBody>
      </p:sp>
      <p:sp>
        <p:nvSpPr>
          <p:cNvPr id="8" name="Footer Placeholder 7">
            <a:extLst>
              <a:ext uri="{FF2B5EF4-FFF2-40B4-BE49-F238E27FC236}">
                <a16:creationId xmlns:a16="http://schemas.microsoft.com/office/drawing/2014/main" id="{F76E2941-5688-4CF9-802F-09FECA7A555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B4E3EB9-FCF4-4967-A7B2-864D2B39BFAA}"/>
              </a:ext>
            </a:extLst>
          </p:cNvPr>
          <p:cNvSpPr>
            <a:spLocks noGrp="1"/>
          </p:cNvSpPr>
          <p:nvPr>
            <p:ph type="sldNum" sz="quarter" idx="12"/>
          </p:nvPr>
        </p:nvSpPr>
        <p:spPr/>
        <p:txBody>
          <a:bodyPr/>
          <a:lstStyle/>
          <a:p>
            <a:fld id="{022AD812-2FDD-4539-A6BD-45CFDB6E502C}" type="slidenum">
              <a:rPr lang="en-IN" smtClean="0"/>
              <a:t>‹#›</a:t>
            </a:fld>
            <a:endParaRPr lang="en-IN"/>
          </a:p>
        </p:txBody>
      </p:sp>
    </p:spTree>
    <p:extLst>
      <p:ext uri="{BB962C8B-B14F-4D97-AF65-F5344CB8AC3E}">
        <p14:creationId xmlns:p14="http://schemas.microsoft.com/office/powerpoint/2010/main" val="43266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47B0F-4AA4-4B27-ABDD-B455C8B3D65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406D17E-9283-40A2-8B32-34657AB101CD}"/>
              </a:ext>
            </a:extLst>
          </p:cNvPr>
          <p:cNvSpPr>
            <a:spLocks noGrp="1"/>
          </p:cNvSpPr>
          <p:nvPr>
            <p:ph type="dt" sz="half" idx="10"/>
          </p:nvPr>
        </p:nvSpPr>
        <p:spPr/>
        <p:txBody>
          <a:bodyPr/>
          <a:lstStyle/>
          <a:p>
            <a:fld id="{9D95FF46-2013-4686-9C0D-D3A5B391801C}" type="datetimeFigureOut">
              <a:rPr lang="en-IN" smtClean="0"/>
              <a:t>25-10-2025</a:t>
            </a:fld>
            <a:endParaRPr lang="en-IN"/>
          </a:p>
        </p:txBody>
      </p:sp>
      <p:sp>
        <p:nvSpPr>
          <p:cNvPr id="4" name="Footer Placeholder 3">
            <a:extLst>
              <a:ext uri="{FF2B5EF4-FFF2-40B4-BE49-F238E27FC236}">
                <a16:creationId xmlns:a16="http://schemas.microsoft.com/office/drawing/2014/main" id="{E798A258-C992-41B9-8395-7EB1AB62856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C7B9CC6-2EBE-4FB1-92EC-15A2858FF03B}"/>
              </a:ext>
            </a:extLst>
          </p:cNvPr>
          <p:cNvSpPr>
            <a:spLocks noGrp="1"/>
          </p:cNvSpPr>
          <p:nvPr>
            <p:ph type="sldNum" sz="quarter" idx="12"/>
          </p:nvPr>
        </p:nvSpPr>
        <p:spPr/>
        <p:txBody>
          <a:bodyPr/>
          <a:lstStyle/>
          <a:p>
            <a:fld id="{022AD812-2FDD-4539-A6BD-45CFDB6E502C}" type="slidenum">
              <a:rPr lang="en-IN" smtClean="0"/>
              <a:t>‹#›</a:t>
            </a:fld>
            <a:endParaRPr lang="en-IN"/>
          </a:p>
        </p:txBody>
      </p:sp>
    </p:spTree>
    <p:extLst>
      <p:ext uri="{BB962C8B-B14F-4D97-AF65-F5344CB8AC3E}">
        <p14:creationId xmlns:p14="http://schemas.microsoft.com/office/powerpoint/2010/main" val="447885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C8F872-C427-4612-BB4F-D36E47F2993B}"/>
              </a:ext>
            </a:extLst>
          </p:cNvPr>
          <p:cNvSpPr>
            <a:spLocks noGrp="1"/>
          </p:cNvSpPr>
          <p:nvPr>
            <p:ph type="dt" sz="half" idx="10"/>
          </p:nvPr>
        </p:nvSpPr>
        <p:spPr/>
        <p:txBody>
          <a:bodyPr/>
          <a:lstStyle/>
          <a:p>
            <a:fld id="{9D95FF46-2013-4686-9C0D-D3A5B391801C}" type="datetimeFigureOut">
              <a:rPr lang="en-IN" smtClean="0"/>
              <a:t>25-10-2025</a:t>
            </a:fld>
            <a:endParaRPr lang="en-IN"/>
          </a:p>
        </p:txBody>
      </p:sp>
      <p:sp>
        <p:nvSpPr>
          <p:cNvPr id="3" name="Footer Placeholder 2">
            <a:extLst>
              <a:ext uri="{FF2B5EF4-FFF2-40B4-BE49-F238E27FC236}">
                <a16:creationId xmlns:a16="http://schemas.microsoft.com/office/drawing/2014/main" id="{80532E58-5F8D-44D9-8964-96DF40C168A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1AC56D2-B6D6-4783-B7BF-D32DEAFB3746}"/>
              </a:ext>
            </a:extLst>
          </p:cNvPr>
          <p:cNvSpPr>
            <a:spLocks noGrp="1"/>
          </p:cNvSpPr>
          <p:nvPr>
            <p:ph type="sldNum" sz="quarter" idx="12"/>
          </p:nvPr>
        </p:nvSpPr>
        <p:spPr/>
        <p:txBody>
          <a:bodyPr/>
          <a:lstStyle/>
          <a:p>
            <a:fld id="{022AD812-2FDD-4539-A6BD-45CFDB6E502C}" type="slidenum">
              <a:rPr lang="en-IN" smtClean="0"/>
              <a:t>‹#›</a:t>
            </a:fld>
            <a:endParaRPr lang="en-IN"/>
          </a:p>
        </p:txBody>
      </p:sp>
    </p:spTree>
    <p:extLst>
      <p:ext uri="{BB962C8B-B14F-4D97-AF65-F5344CB8AC3E}">
        <p14:creationId xmlns:p14="http://schemas.microsoft.com/office/powerpoint/2010/main" val="2503861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09E87-E95B-4243-A3BD-7517805165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0E72AAB-3CFF-4338-AC3B-FB54B3770D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05E8DCE-A5F9-48DA-964E-B029EDD790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A954502-FCE7-4B35-B39B-1B0C977DD97B}"/>
              </a:ext>
            </a:extLst>
          </p:cNvPr>
          <p:cNvSpPr>
            <a:spLocks noGrp="1"/>
          </p:cNvSpPr>
          <p:nvPr>
            <p:ph type="dt" sz="half" idx="10"/>
          </p:nvPr>
        </p:nvSpPr>
        <p:spPr/>
        <p:txBody>
          <a:bodyPr/>
          <a:lstStyle/>
          <a:p>
            <a:fld id="{9D95FF46-2013-4686-9C0D-D3A5B391801C}" type="datetimeFigureOut">
              <a:rPr lang="en-IN" smtClean="0"/>
              <a:t>25-10-2025</a:t>
            </a:fld>
            <a:endParaRPr lang="en-IN"/>
          </a:p>
        </p:txBody>
      </p:sp>
      <p:sp>
        <p:nvSpPr>
          <p:cNvPr id="6" name="Footer Placeholder 5">
            <a:extLst>
              <a:ext uri="{FF2B5EF4-FFF2-40B4-BE49-F238E27FC236}">
                <a16:creationId xmlns:a16="http://schemas.microsoft.com/office/drawing/2014/main" id="{A982771F-8377-402D-8281-FAE2FBE19BD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F05F3C-77CD-4937-BADC-07B4BC837ECD}"/>
              </a:ext>
            </a:extLst>
          </p:cNvPr>
          <p:cNvSpPr>
            <a:spLocks noGrp="1"/>
          </p:cNvSpPr>
          <p:nvPr>
            <p:ph type="sldNum" sz="quarter" idx="12"/>
          </p:nvPr>
        </p:nvSpPr>
        <p:spPr/>
        <p:txBody>
          <a:bodyPr/>
          <a:lstStyle/>
          <a:p>
            <a:fld id="{022AD812-2FDD-4539-A6BD-45CFDB6E502C}" type="slidenum">
              <a:rPr lang="en-IN" smtClean="0"/>
              <a:t>‹#›</a:t>
            </a:fld>
            <a:endParaRPr lang="en-IN"/>
          </a:p>
        </p:txBody>
      </p:sp>
    </p:spTree>
    <p:extLst>
      <p:ext uri="{BB962C8B-B14F-4D97-AF65-F5344CB8AC3E}">
        <p14:creationId xmlns:p14="http://schemas.microsoft.com/office/powerpoint/2010/main" val="1609485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7216D-3824-4A67-AB8F-D5624F875D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3D99FC-6982-4E48-83AE-6CD0B62912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3171A9F-B747-45A0-8C69-5525787576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2516750-0728-4452-9EBF-66BB2318A4A5}"/>
              </a:ext>
            </a:extLst>
          </p:cNvPr>
          <p:cNvSpPr>
            <a:spLocks noGrp="1"/>
          </p:cNvSpPr>
          <p:nvPr>
            <p:ph type="dt" sz="half" idx="10"/>
          </p:nvPr>
        </p:nvSpPr>
        <p:spPr/>
        <p:txBody>
          <a:bodyPr/>
          <a:lstStyle/>
          <a:p>
            <a:fld id="{9D95FF46-2013-4686-9C0D-D3A5B391801C}" type="datetimeFigureOut">
              <a:rPr lang="en-IN" smtClean="0"/>
              <a:t>25-10-2025</a:t>
            </a:fld>
            <a:endParaRPr lang="en-IN"/>
          </a:p>
        </p:txBody>
      </p:sp>
      <p:sp>
        <p:nvSpPr>
          <p:cNvPr id="6" name="Footer Placeholder 5">
            <a:extLst>
              <a:ext uri="{FF2B5EF4-FFF2-40B4-BE49-F238E27FC236}">
                <a16:creationId xmlns:a16="http://schemas.microsoft.com/office/drawing/2014/main" id="{DC4DD378-6DCA-48A4-A447-71C85DB2AB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9B3DC9-406E-411E-93EA-05C30DDE1E5B}"/>
              </a:ext>
            </a:extLst>
          </p:cNvPr>
          <p:cNvSpPr>
            <a:spLocks noGrp="1"/>
          </p:cNvSpPr>
          <p:nvPr>
            <p:ph type="sldNum" sz="quarter" idx="12"/>
          </p:nvPr>
        </p:nvSpPr>
        <p:spPr/>
        <p:txBody>
          <a:bodyPr/>
          <a:lstStyle/>
          <a:p>
            <a:fld id="{022AD812-2FDD-4539-A6BD-45CFDB6E502C}" type="slidenum">
              <a:rPr lang="en-IN" smtClean="0"/>
              <a:t>‹#›</a:t>
            </a:fld>
            <a:endParaRPr lang="en-IN"/>
          </a:p>
        </p:txBody>
      </p:sp>
    </p:spTree>
    <p:extLst>
      <p:ext uri="{BB962C8B-B14F-4D97-AF65-F5344CB8AC3E}">
        <p14:creationId xmlns:p14="http://schemas.microsoft.com/office/powerpoint/2010/main" val="794991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BCCA6-26F5-4BF9-AA87-C64227E4CBC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F1429CB-2E39-4773-A455-32BC41527F8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350B29-5123-4197-847B-ADBD9EA6981E}"/>
              </a:ext>
            </a:extLst>
          </p:cNvPr>
          <p:cNvSpPr>
            <a:spLocks noGrp="1"/>
          </p:cNvSpPr>
          <p:nvPr>
            <p:ph type="dt" sz="half" idx="10"/>
          </p:nvPr>
        </p:nvSpPr>
        <p:spPr/>
        <p:txBody>
          <a:bodyPr/>
          <a:lstStyle/>
          <a:p>
            <a:fld id="{9D95FF46-2013-4686-9C0D-D3A5B391801C}" type="datetimeFigureOut">
              <a:rPr lang="en-IN" smtClean="0"/>
              <a:t>25-10-2025</a:t>
            </a:fld>
            <a:endParaRPr lang="en-IN"/>
          </a:p>
        </p:txBody>
      </p:sp>
      <p:sp>
        <p:nvSpPr>
          <p:cNvPr id="5" name="Footer Placeholder 4">
            <a:extLst>
              <a:ext uri="{FF2B5EF4-FFF2-40B4-BE49-F238E27FC236}">
                <a16:creationId xmlns:a16="http://schemas.microsoft.com/office/drawing/2014/main" id="{D2AA4FAF-7788-484F-9448-A001888923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242D53-5F7A-4CF2-B1B4-2F358AE6C79F}"/>
              </a:ext>
            </a:extLst>
          </p:cNvPr>
          <p:cNvSpPr>
            <a:spLocks noGrp="1"/>
          </p:cNvSpPr>
          <p:nvPr>
            <p:ph type="sldNum" sz="quarter" idx="12"/>
          </p:nvPr>
        </p:nvSpPr>
        <p:spPr/>
        <p:txBody>
          <a:bodyPr/>
          <a:lstStyle/>
          <a:p>
            <a:fld id="{022AD812-2FDD-4539-A6BD-45CFDB6E502C}" type="slidenum">
              <a:rPr lang="en-IN" smtClean="0"/>
              <a:t>‹#›</a:t>
            </a:fld>
            <a:endParaRPr lang="en-IN"/>
          </a:p>
        </p:txBody>
      </p:sp>
    </p:spTree>
    <p:extLst>
      <p:ext uri="{BB962C8B-B14F-4D97-AF65-F5344CB8AC3E}">
        <p14:creationId xmlns:p14="http://schemas.microsoft.com/office/powerpoint/2010/main" val="3305892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6127ED-859E-4F98-8C33-DED5BAAB51F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7C0B7BC-31E8-4485-B256-DE6D2473009D}"/>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B26392-775C-4575-803E-9B0D74795321}"/>
              </a:ext>
            </a:extLst>
          </p:cNvPr>
          <p:cNvSpPr>
            <a:spLocks noGrp="1"/>
          </p:cNvSpPr>
          <p:nvPr>
            <p:ph type="dt" sz="half" idx="10"/>
          </p:nvPr>
        </p:nvSpPr>
        <p:spPr/>
        <p:txBody>
          <a:bodyPr/>
          <a:lstStyle/>
          <a:p>
            <a:fld id="{9D95FF46-2013-4686-9C0D-D3A5B391801C}" type="datetimeFigureOut">
              <a:rPr lang="en-IN" smtClean="0"/>
              <a:t>25-10-2025</a:t>
            </a:fld>
            <a:endParaRPr lang="en-IN"/>
          </a:p>
        </p:txBody>
      </p:sp>
      <p:sp>
        <p:nvSpPr>
          <p:cNvPr id="5" name="Footer Placeholder 4">
            <a:extLst>
              <a:ext uri="{FF2B5EF4-FFF2-40B4-BE49-F238E27FC236}">
                <a16:creationId xmlns:a16="http://schemas.microsoft.com/office/drawing/2014/main" id="{07006925-837E-4859-958C-2F6A6F83B2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D8B30F-7F8F-4F4D-87F2-F9DB49AA05BE}"/>
              </a:ext>
            </a:extLst>
          </p:cNvPr>
          <p:cNvSpPr>
            <a:spLocks noGrp="1"/>
          </p:cNvSpPr>
          <p:nvPr>
            <p:ph type="sldNum" sz="quarter" idx="12"/>
          </p:nvPr>
        </p:nvSpPr>
        <p:spPr/>
        <p:txBody>
          <a:bodyPr/>
          <a:lstStyle/>
          <a:p>
            <a:fld id="{022AD812-2FDD-4539-A6BD-45CFDB6E502C}" type="slidenum">
              <a:rPr lang="en-IN" smtClean="0"/>
              <a:t>‹#›</a:t>
            </a:fld>
            <a:endParaRPr lang="en-IN"/>
          </a:p>
        </p:txBody>
      </p:sp>
    </p:spTree>
    <p:extLst>
      <p:ext uri="{BB962C8B-B14F-4D97-AF65-F5344CB8AC3E}">
        <p14:creationId xmlns:p14="http://schemas.microsoft.com/office/powerpoint/2010/main" val="1942391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F29271-E7E9-450E-8883-9DEF3833FE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C1F95E7-83E1-4697-B35A-04B71FF8B7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9E30FC-534B-4B63-B201-228B52D8ED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95FF46-2013-4686-9C0D-D3A5B391801C}" type="datetimeFigureOut">
              <a:rPr lang="en-IN" smtClean="0"/>
              <a:t>25-10-2025</a:t>
            </a:fld>
            <a:endParaRPr lang="en-IN"/>
          </a:p>
        </p:txBody>
      </p:sp>
      <p:sp>
        <p:nvSpPr>
          <p:cNvPr id="5" name="Footer Placeholder 4">
            <a:extLst>
              <a:ext uri="{FF2B5EF4-FFF2-40B4-BE49-F238E27FC236}">
                <a16:creationId xmlns:a16="http://schemas.microsoft.com/office/drawing/2014/main" id="{C85660A1-D85E-4D53-B4D8-7890EC37AD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D4751E5-D778-434A-9BAD-184FE09408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2AD812-2FDD-4539-A6BD-45CFDB6E502C}" type="slidenum">
              <a:rPr lang="en-IN" smtClean="0"/>
              <a:t>‹#›</a:t>
            </a:fld>
            <a:endParaRPr lang="en-IN"/>
          </a:p>
        </p:txBody>
      </p:sp>
    </p:spTree>
    <p:extLst>
      <p:ext uri="{BB962C8B-B14F-4D97-AF65-F5344CB8AC3E}">
        <p14:creationId xmlns:p14="http://schemas.microsoft.com/office/powerpoint/2010/main" val="39273536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doi.org/10.3390/agronomy11112365"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arxiv.org/abs/2506.01806" TargetMode="External"/><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doi.org/10.1016/j.compag.2025.110223" TargetMode="External"/><Relationship Id="rId2" Type="http://schemas.openxmlformats.org/officeDocument/2006/relationships/hyperlink" Target="https://doi.org/10.3390/agronomy11112365" TargetMode="External"/><Relationship Id="rId1" Type="http://schemas.openxmlformats.org/officeDocument/2006/relationships/slideLayout" Target="../slideLayouts/slideLayout1.xml"/><Relationship Id="rId5" Type="http://schemas.openxmlformats.org/officeDocument/2006/relationships/hyperlink" Target="https://doi.org/10.1109/TAFE.2025.3574708" TargetMode="External"/><Relationship Id="rId4" Type="http://schemas.openxmlformats.org/officeDocument/2006/relationships/hyperlink" Target="https://arxiv.org/abs/2506.01806"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Google Shape;285;p29">
            <a:extLst>
              <a:ext uri="{FF2B5EF4-FFF2-40B4-BE49-F238E27FC236}">
                <a16:creationId xmlns:a16="http://schemas.microsoft.com/office/drawing/2014/main" id="{082C907F-1C4B-45CB-8B7D-D70E97030995}"/>
              </a:ext>
            </a:extLst>
          </p:cNvPr>
          <p:cNvSpPr txBox="1">
            <a:spLocks noGrp="1"/>
          </p:cNvSpPr>
          <p:nvPr>
            <p:ph type="ctrTitle"/>
          </p:nvPr>
        </p:nvSpPr>
        <p:spPr>
          <a:xfrm>
            <a:off x="4489142" y="1327212"/>
            <a:ext cx="7294485" cy="3655315"/>
          </a:xfrm>
          <a:prstGeom prst="rect">
            <a:avLst/>
          </a:prstGeom>
        </p:spPr>
        <p:txBody>
          <a:bodyPr spcFirstLastPara="1" wrap="square" lIns="91425" tIns="91425" rIns="91425" bIns="91425" anchor="ctr" anchorCtr="0">
            <a:noAutofit/>
          </a:bodyPr>
          <a:lstStyle/>
          <a:p>
            <a:r>
              <a:rPr lang="en-GB" sz="3600" dirty="0"/>
              <a:t>Cattle verification with YOLO and cross-attention encoder-based pairwise triplet loss</a:t>
            </a:r>
            <a:endParaRPr sz="3600" dirty="0">
              <a:solidFill>
                <a:schemeClr val="dk2"/>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85D3134B-E96F-4551-8CCB-F3DEFFAAA369}"/>
              </a:ext>
            </a:extLst>
          </p:cNvPr>
          <p:cNvSpPr/>
          <p:nvPr/>
        </p:nvSpPr>
        <p:spPr>
          <a:xfrm>
            <a:off x="145001" y="4982527"/>
            <a:ext cx="8342051" cy="1754326"/>
          </a:xfrm>
          <a:prstGeom prst="rect">
            <a:avLst/>
          </a:prstGeom>
        </p:spPr>
        <p:txBody>
          <a:bodyPr wrap="square">
            <a:spAutoFit/>
          </a:bodyPr>
          <a:lstStyle/>
          <a:p>
            <a:r>
              <a:rPr lang="en-IN" dirty="0"/>
              <a:t>Presented by:</a:t>
            </a:r>
          </a:p>
          <a:p>
            <a:r>
              <a:rPr lang="en-IN" dirty="0"/>
              <a:t>Sai Narendra</a:t>
            </a:r>
          </a:p>
          <a:p>
            <a:endParaRPr lang="en-IN" dirty="0">
              <a:latin typeface="Arial" panose="020B0604020202020204" pitchFamily="34" charset="0"/>
              <a:cs typeface="Arial" panose="020B0604020202020204" pitchFamily="34" charset="0"/>
            </a:endParaRPr>
          </a:p>
          <a:p>
            <a:r>
              <a:rPr lang="en-IN" dirty="0"/>
              <a:t>Supervised By:</a:t>
            </a:r>
          </a:p>
          <a:p>
            <a:r>
              <a:rPr lang="en-IN" dirty="0"/>
              <a:t>Prof. SVSN Sarma, Asst. Professor, Mathematics &amp; Computer Science, SSSIHL</a:t>
            </a:r>
          </a:p>
          <a:p>
            <a:r>
              <a:rPr lang="en-IN" dirty="0"/>
              <a:t>Dr. Darshan Gera, Associate. Professor, Mathematics &amp; Computer Science, SSSIHL</a:t>
            </a:r>
          </a:p>
        </p:txBody>
      </p:sp>
      <p:pic>
        <p:nvPicPr>
          <p:cNvPr id="9" name="Picture 8">
            <a:extLst>
              <a:ext uri="{FF2B5EF4-FFF2-40B4-BE49-F238E27FC236}">
                <a16:creationId xmlns:a16="http://schemas.microsoft.com/office/drawing/2014/main" id="{492514CE-91C4-469B-9053-BF60E8297E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049" y="232491"/>
            <a:ext cx="2823098" cy="410136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7384772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D22A65-7C27-4DD2-9FDB-F185482FB218}"/>
              </a:ext>
            </a:extLst>
          </p:cNvPr>
          <p:cNvSpPr txBox="1"/>
          <p:nvPr/>
        </p:nvSpPr>
        <p:spPr>
          <a:xfrm>
            <a:off x="246063" y="266329"/>
            <a:ext cx="6356412" cy="523220"/>
          </a:xfrm>
          <a:prstGeom prst="rect">
            <a:avLst/>
          </a:prstGeom>
          <a:noFill/>
        </p:spPr>
        <p:txBody>
          <a:bodyPr wrap="square" rtlCol="0">
            <a:spAutoFit/>
          </a:bodyPr>
          <a:lstStyle/>
          <a:p>
            <a:r>
              <a:rPr lang="en-GB" sz="2800" dirty="0">
                <a:latin typeface="+mj-lt"/>
              </a:rPr>
              <a:t>PROBLEM</a:t>
            </a:r>
            <a:r>
              <a:rPr lang="en-GB" sz="2800" dirty="0"/>
              <a:t> </a:t>
            </a:r>
            <a:r>
              <a:rPr lang="en-GB" sz="2800" dirty="0">
                <a:latin typeface="+mj-lt"/>
              </a:rPr>
              <a:t>STATEMENT:</a:t>
            </a:r>
            <a:endParaRPr lang="en-IN" sz="2800" dirty="0">
              <a:latin typeface="+mj-lt"/>
            </a:endParaRPr>
          </a:p>
        </p:txBody>
      </p:sp>
      <p:sp>
        <p:nvSpPr>
          <p:cNvPr id="3" name="Rectangle 3">
            <a:extLst>
              <a:ext uri="{FF2B5EF4-FFF2-40B4-BE49-F238E27FC236}">
                <a16:creationId xmlns:a16="http://schemas.microsoft.com/office/drawing/2014/main" id="{96063108-F3C1-421F-920C-F36EC31B7A81}"/>
              </a:ext>
            </a:extLst>
          </p:cNvPr>
          <p:cNvSpPr txBox="1">
            <a:spLocks noChangeArrowheads="1"/>
          </p:cNvSpPr>
          <p:nvPr/>
        </p:nvSpPr>
        <p:spPr bwMode="auto">
          <a:xfrm>
            <a:off x="246063" y="1247018"/>
            <a:ext cx="11699874"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eaLnBrk="0" fontAlgn="base" hangingPunct="0">
              <a:lnSpc>
                <a:spcPct val="100000"/>
              </a:lnSpc>
              <a:spcBef>
                <a:spcPct val="0"/>
              </a:spcBef>
              <a:spcAft>
                <a:spcPct val="0"/>
              </a:spcAft>
            </a:pPr>
            <a:r>
              <a:rPr lang="en-US" altLang="en-US" sz="1800" dirty="0">
                <a:cs typeface="Calibri" panose="020F0502020204030204" pitchFamily="34" charset="0"/>
              </a:rPr>
              <a:t>Traditional cattle identification methods like ear tags or branding are </a:t>
            </a:r>
            <a:r>
              <a:rPr lang="en-US" altLang="en-US" sz="1800" b="1" dirty="0">
                <a:cs typeface="Calibri" panose="020F0502020204030204" pitchFamily="34" charset="0"/>
              </a:rPr>
              <a:t>invasive, unreliable, and prone to fraud</a:t>
            </a:r>
            <a:r>
              <a:rPr lang="en-US" altLang="en-US" sz="1800" dirty="0">
                <a:cs typeface="Calibri" panose="020F0502020204030204" pitchFamily="34" charset="0"/>
              </a:rPr>
              <a:t>.</a:t>
            </a:r>
          </a:p>
          <a:p>
            <a:pPr marL="285750" indent="-285750" eaLnBrk="0" fontAlgn="base" hangingPunct="0">
              <a:lnSpc>
                <a:spcPct val="100000"/>
              </a:lnSpc>
              <a:spcBef>
                <a:spcPct val="0"/>
              </a:spcBef>
              <a:spcAft>
                <a:spcPct val="0"/>
              </a:spcAft>
            </a:pPr>
            <a:r>
              <a:rPr lang="en-US" altLang="en-US" sz="1800" dirty="0">
                <a:cs typeface="Calibri" panose="020F0502020204030204" pitchFamily="34" charset="0"/>
              </a:rPr>
              <a:t>Existing deep learning models using only face or muzzle images </a:t>
            </a:r>
            <a:r>
              <a:rPr lang="en-US" altLang="en-US" sz="1800" b="1" dirty="0">
                <a:cs typeface="Calibri" panose="020F0502020204030204" pitchFamily="34" charset="0"/>
              </a:rPr>
              <a:t>struggle with lighting, pose, and occlusion variations</a:t>
            </a:r>
            <a:r>
              <a:rPr lang="en-US" altLang="en-US" sz="1800" dirty="0">
                <a:cs typeface="Calibri" panose="020F0502020204030204" pitchFamily="34" charset="0"/>
              </a:rPr>
              <a:t>, limiting verification accuracy.</a:t>
            </a:r>
          </a:p>
          <a:p>
            <a:pPr marL="285750" indent="-285750" eaLnBrk="0" fontAlgn="base" hangingPunct="0">
              <a:lnSpc>
                <a:spcPct val="100000"/>
              </a:lnSpc>
              <a:spcBef>
                <a:spcPct val="0"/>
              </a:spcBef>
              <a:spcAft>
                <a:spcPct val="0"/>
              </a:spcAft>
            </a:pPr>
            <a:r>
              <a:rPr lang="en-US" altLang="en-US" sz="1800" dirty="0">
                <a:cs typeface="Calibri" panose="020F0502020204030204" pitchFamily="34" charset="0"/>
              </a:rPr>
              <a:t>There is a </a:t>
            </a:r>
            <a:r>
              <a:rPr lang="en-US" altLang="en-US" sz="1800" b="1" dirty="0">
                <a:cs typeface="Calibri" panose="020F0502020204030204" pitchFamily="34" charset="0"/>
              </a:rPr>
              <a:t>need for a robust, non-invasive, and efficient</a:t>
            </a:r>
            <a:r>
              <a:rPr lang="en-US" altLang="en-US" sz="1800" dirty="0">
                <a:cs typeface="Calibri" panose="020F0502020204030204" pitchFamily="34" charset="0"/>
              </a:rPr>
              <a:t> verification system that performs reliably in real-world conditions.</a:t>
            </a:r>
          </a:p>
          <a:p>
            <a:pPr marL="285750" indent="-285750" eaLnBrk="0" fontAlgn="base" hangingPunct="0">
              <a:lnSpc>
                <a:spcPct val="100000"/>
              </a:lnSpc>
              <a:spcBef>
                <a:spcPct val="0"/>
              </a:spcBef>
              <a:spcAft>
                <a:spcPct val="0"/>
              </a:spcAft>
            </a:pPr>
            <a:r>
              <a:rPr lang="en-US" altLang="en-US" sz="1800" dirty="0">
                <a:cs typeface="Calibri" panose="020F0502020204030204" pitchFamily="34" charset="0"/>
              </a:rPr>
              <a:t>This study proposes a </a:t>
            </a:r>
            <a:r>
              <a:rPr lang="en-US" altLang="en-US" sz="1800" b="1" dirty="0">
                <a:cs typeface="Calibri" panose="020F0502020204030204" pitchFamily="34" charset="0"/>
              </a:rPr>
              <a:t>Cross-Attention Encoder with Pairwise Triplet Loss</a:t>
            </a:r>
            <a:r>
              <a:rPr lang="en-US" altLang="en-US" sz="1800" dirty="0">
                <a:cs typeface="Calibri" panose="020F0502020204030204" pitchFamily="34" charset="0"/>
              </a:rPr>
              <a:t> that </a:t>
            </a:r>
            <a:r>
              <a:rPr lang="en-US" altLang="en-US" sz="1800" b="1" dirty="0">
                <a:cs typeface="Calibri" panose="020F0502020204030204" pitchFamily="34" charset="0"/>
              </a:rPr>
              <a:t>fuses face and muzzle features</a:t>
            </a:r>
            <a:r>
              <a:rPr lang="en-US" altLang="en-US" sz="1800" dirty="0">
                <a:cs typeface="Calibri" panose="020F0502020204030204" pitchFamily="34" charset="0"/>
              </a:rPr>
              <a:t> to enhance accuracy, feature alignment, and scalability in cattle verification.</a:t>
            </a:r>
          </a:p>
        </p:txBody>
      </p:sp>
      <p:sp>
        <p:nvSpPr>
          <p:cNvPr id="4" name="Rectangle 3">
            <a:extLst>
              <a:ext uri="{FF2B5EF4-FFF2-40B4-BE49-F238E27FC236}">
                <a16:creationId xmlns:a16="http://schemas.microsoft.com/office/drawing/2014/main" id="{D8788597-F6FB-4A43-A080-5AA41368FFBC}"/>
              </a:ext>
            </a:extLst>
          </p:cNvPr>
          <p:cNvSpPr/>
          <p:nvPr/>
        </p:nvSpPr>
        <p:spPr>
          <a:xfrm>
            <a:off x="180512" y="5114343"/>
            <a:ext cx="11765425" cy="1477328"/>
          </a:xfrm>
          <a:prstGeom prst="rect">
            <a:avLst/>
          </a:prstGeom>
        </p:spPr>
        <p:txBody>
          <a:bodyPr wrap="square">
            <a:spAutoFit/>
          </a:bodyPr>
          <a:lstStyle/>
          <a:p>
            <a:r>
              <a:rPr lang="en-GB" u="sng" dirty="0"/>
              <a:t>Referenced Paper:</a:t>
            </a:r>
          </a:p>
          <a:p>
            <a:endParaRPr lang="en-GB" dirty="0"/>
          </a:p>
          <a:p>
            <a:r>
              <a:rPr lang="en-IN" dirty="0"/>
              <a:t>Shojaeipour, A., Falzon, G., Kwan, P., Hadavi, N., Cowley, F. C., &amp; Paul, D. (2021). Automated muzzle detection and biometric identification via few-shot deep transfer learning of mixed breed cattle. Agronomy, 11(11), 2365. </a:t>
            </a:r>
            <a:r>
              <a:rPr lang="en-IN" dirty="0">
                <a:hlinkClick r:id="rId2"/>
              </a:rPr>
              <a:t>https://doi.org/10.3390/agronomy11112365</a:t>
            </a:r>
            <a:endParaRPr lang="en-IN" dirty="0"/>
          </a:p>
        </p:txBody>
      </p:sp>
    </p:spTree>
    <p:extLst>
      <p:ext uri="{BB962C8B-B14F-4D97-AF65-F5344CB8AC3E}">
        <p14:creationId xmlns:p14="http://schemas.microsoft.com/office/powerpoint/2010/main" val="2322989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EF017AD-73EA-43ED-8BD9-A32C8F9B970F}"/>
              </a:ext>
            </a:extLst>
          </p:cNvPr>
          <p:cNvPicPr>
            <a:picLocks noChangeAspect="1"/>
          </p:cNvPicPr>
          <p:nvPr/>
        </p:nvPicPr>
        <p:blipFill>
          <a:blip r:embed="rId2"/>
          <a:stretch>
            <a:fillRect/>
          </a:stretch>
        </p:blipFill>
        <p:spPr>
          <a:xfrm>
            <a:off x="435172" y="458452"/>
            <a:ext cx="10860016" cy="459169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Rectangle 3">
            <a:extLst>
              <a:ext uri="{FF2B5EF4-FFF2-40B4-BE49-F238E27FC236}">
                <a16:creationId xmlns:a16="http://schemas.microsoft.com/office/drawing/2014/main" id="{6C779043-3078-49F7-BA93-7F809F9D9E9B}"/>
              </a:ext>
            </a:extLst>
          </p:cNvPr>
          <p:cNvSpPr/>
          <p:nvPr/>
        </p:nvSpPr>
        <p:spPr>
          <a:xfrm>
            <a:off x="202707" y="5298691"/>
            <a:ext cx="11466990" cy="1200329"/>
          </a:xfrm>
          <a:prstGeom prst="rect">
            <a:avLst/>
          </a:prstGeom>
        </p:spPr>
        <p:txBody>
          <a:bodyPr wrap="square">
            <a:spAutoFit/>
          </a:bodyPr>
          <a:lstStyle/>
          <a:p>
            <a:r>
              <a:rPr lang="en-GB" dirty="0"/>
              <a:t>Fig1: Illustration of distinctive facial and muzzle features in cattle used for individual recognition. The left section highlights key facial features, including the eyes, body patterns, and overall unique facial contours, and on the right, a magnified view of the muzzle reveals specific beads and ridges, i.e., microscopic details unique to each cattle’s muzzle pattern.</a:t>
            </a:r>
            <a:endParaRPr lang="en-IN" dirty="0"/>
          </a:p>
        </p:txBody>
      </p:sp>
    </p:spTree>
    <p:extLst>
      <p:ext uri="{BB962C8B-B14F-4D97-AF65-F5344CB8AC3E}">
        <p14:creationId xmlns:p14="http://schemas.microsoft.com/office/powerpoint/2010/main" val="1366780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CD5A7C-ADBA-40D0-B42E-292878923D31}"/>
              </a:ext>
            </a:extLst>
          </p:cNvPr>
          <p:cNvSpPr txBox="1"/>
          <p:nvPr/>
        </p:nvSpPr>
        <p:spPr>
          <a:xfrm>
            <a:off x="204187" y="304794"/>
            <a:ext cx="11283518" cy="584775"/>
          </a:xfrm>
          <a:prstGeom prst="rect">
            <a:avLst/>
          </a:prstGeom>
          <a:noFill/>
        </p:spPr>
        <p:txBody>
          <a:bodyPr wrap="square" rtlCol="0">
            <a:spAutoFit/>
          </a:bodyPr>
          <a:lstStyle/>
          <a:p>
            <a:r>
              <a:rPr lang="en-GB" sz="3200" dirty="0">
                <a:latin typeface="+mj-lt"/>
              </a:rPr>
              <a:t>DATASETS USED:</a:t>
            </a:r>
            <a:endParaRPr lang="en-IN" sz="3200" dirty="0">
              <a:latin typeface="+mj-lt"/>
            </a:endParaRPr>
          </a:p>
        </p:txBody>
      </p:sp>
      <p:sp>
        <p:nvSpPr>
          <p:cNvPr id="3" name="TextBox 2">
            <a:extLst>
              <a:ext uri="{FF2B5EF4-FFF2-40B4-BE49-F238E27FC236}">
                <a16:creationId xmlns:a16="http://schemas.microsoft.com/office/drawing/2014/main" id="{CFB57E14-26E7-40D1-9840-39541E9E9E2F}"/>
              </a:ext>
            </a:extLst>
          </p:cNvPr>
          <p:cNvSpPr txBox="1"/>
          <p:nvPr/>
        </p:nvSpPr>
        <p:spPr>
          <a:xfrm>
            <a:off x="2113738" y="1171649"/>
            <a:ext cx="2752078" cy="461665"/>
          </a:xfrm>
          <a:prstGeom prst="rect">
            <a:avLst/>
          </a:prstGeom>
          <a:noFill/>
        </p:spPr>
        <p:txBody>
          <a:bodyPr wrap="square" rtlCol="0">
            <a:spAutoFit/>
          </a:bodyPr>
          <a:lstStyle/>
          <a:p>
            <a:r>
              <a:rPr lang="en-GB" sz="2400" dirty="0"/>
              <a:t>Cattle-1-dataset</a:t>
            </a:r>
            <a:endParaRPr lang="en-IN" sz="2400" dirty="0"/>
          </a:p>
        </p:txBody>
      </p:sp>
      <p:pic>
        <p:nvPicPr>
          <p:cNvPr id="5" name="Picture 4">
            <a:extLst>
              <a:ext uri="{FF2B5EF4-FFF2-40B4-BE49-F238E27FC236}">
                <a16:creationId xmlns:a16="http://schemas.microsoft.com/office/drawing/2014/main" id="{7E170B49-1340-4041-889A-92ACA013E2B1}"/>
              </a:ext>
            </a:extLst>
          </p:cNvPr>
          <p:cNvPicPr/>
          <p:nvPr/>
        </p:nvPicPr>
        <p:blipFill rotWithShape="1">
          <a:blip r:embed="rId2">
            <a:extLst>
              <a:ext uri="{28A0092B-C50C-407E-A947-70E740481C1C}">
                <a14:useLocalDpi xmlns:a14="http://schemas.microsoft.com/office/drawing/2010/main" val="0"/>
              </a:ext>
            </a:extLst>
          </a:blip>
          <a:srcRect t="7808" b="22241"/>
          <a:stretch/>
        </p:blipFill>
        <p:spPr bwMode="auto">
          <a:xfrm>
            <a:off x="754602" y="2377061"/>
            <a:ext cx="5048321" cy="309623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53640926-AAD7-44D8-BBD7-CCE9431645EC}">
              <a14:shadowObscured xmlns:a14="http://schemas.microsoft.com/office/drawing/2010/main"/>
            </a:ext>
          </a:extLst>
        </p:spPr>
      </p:pic>
      <p:sp>
        <p:nvSpPr>
          <p:cNvPr id="6" name="Rectangle 5">
            <a:extLst>
              <a:ext uri="{FF2B5EF4-FFF2-40B4-BE49-F238E27FC236}">
                <a16:creationId xmlns:a16="http://schemas.microsoft.com/office/drawing/2014/main" id="{BEFF740B-7455-413D-BF47-3845D28FA8E6}"/>
              </a:ext>
            </a:extLst>
          </p:cNvPr>
          <p:cNvSpPr/>
          <p:nvPr/>
        </p:nvSpPr>
        <p:spPr>
          <a:xfrm>
            <a:off x="136125" y="6079926"/>
            <a:ext cx="11094128" cy="646331"/>
          </a:xfrm>
          <a:prstGeom prst="rect">
            <a:avLst/>
          </a:prstGeom>
        </p:spPr>
        <p:txBody>
          <a:bodyPr wrap="square">
            <a:spAutoFit/>
          </a:bodyPr>
          <a:lstStyle/>
          <a:p>
            <a:r>
              <a:rPr lang="en-IN" dirty="0"/>
              <a:t>Shojaeipour, A., Falzon, G., Kwan, P., Hadavi, N., Cowley, F. C., &amp; Paul, D. (2021). Automated muzzle detection and biometric identification via few-shot deep transfer learning of mixed breed cattle. Agronomy, 11(11), 2365.</a:t>
            </a:r>
            <a:endParaRPr lang="en-IN" dirty="0">
              <a:effectLst/>
            </a:endParaRPr>
          </a:p>
        </p:txBody>
      </p:sp>
      <p:sp>
        <p:nvSpPr>
          <p:cNvPr id="7" name="TextBox 6">
            <a:extLst>
              <a:ext uri="{FF2B5EF4-FFF2-40B4-BE49-F238E27FC236}">
                <a16:creationId xmlns:a16="http://schemas.microsoft.com/office/drawing/2014/main" id="{3C7EBE49-8668-480E-AAB7-E7E94EF0B838}"/>
              </a:ext>
            </a:extLst>
          </p:cNvPr>
          <p:cNvSpPr txBox="1"/>
          <p:nvPr/>
        </p:nvSpPr>
        <p:spPr>
          <a:xfrm>
            <a:off x="8561431" y="1153874"/>
            <a:ext cx="2752078" cy="461665"/>
          </a:xfrm>
          <a:prstGeom prst="rect">
            <a:avLst/>
          </a:prstGeom>
          <a:noFill/>
        </p:spPr>
        <p:txBody>
          <a:bodyPr wrap="square" rtlCol="0">
            <a:spAutoFit/>
          </a:bodyPr>
          <a:lstStyle/>
          <a:p>
            <a:r>
              <a:rPr lang="en-GB" sz="2400" dirty="0"/>
              <a:t>Cattle-3-dataset</a:t>
            </a:r>
            <a:endParaRPr lang="en-IN" sz="2400" dirty="0"/>
          </a:p>
        </p:txBody>
      </p:sp>
      <p:pic>
        <p:nvPicPr>
          <p:cNvPr id="8" name="Picture 7">
            <a:extLst>
              <a:ext uri="{FF2B5EF4-FFF2-40B4-BE49-F238E27FC236}">
                <a16:creationId xmlns:a16="http://schemas.microsoft.com/office/drawing/2014/main" id="{E4E4F3D9-B2FE-42FD-873A-5E9F7A754B4A}"/>
              </a:ext>
            </a:extLst>
          </p:cNvPr>
          <p:cNvPicPr>
            <a:picLocks noChangeAspect="1"/>
          </p:cNvPicPr>
          <p:nvPr/>
        </p:nvPicPr>
        <p:blipFill rotWithShape="1">
          <a:blip r:embed="rId3">
            <a:extLst>
              <a:ext uri="{28A0092B-C50C-407E-A947-70E740481C1C}">
                <a14:useLocalDpi xmlns:a14="http://schemas.microsoft.com/office/drawing/2010/main" val="0"/>
              </a:ext>
            </a:extLst>
          </a:blip>
          <a:srcRect t="7721" b="19105"/>
          <a:stretch/>
        </p:blipFill>
        <p:spPr>
          <a:xfrm>
            <a:off x="6769738" y="2377060"/>
            <a:ext cx="5211139" cy="316632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1196801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C4F10D-D970-4E41-A085-89E7F22DAE9C}"/>
              </a:ext>
            </a:extLst>
          </p:cNvPr>
          <p:cNvSpPr txBox="1"/>
          <p:nvPr/>
        </p:nvSpPr>
        <p:spPr>
          <a:xfrm>
            <a:off x="239697" y="161563"/>
            <a:ext cx="10449018" cy="461665"/>
          </a:xfrm>
          <a:prstGeom prst="rect">
            <a:avLst/>
          </a:prstGeom>
          <a:noFill/>
        </p:spPr>
        <p:txBody>
          <a:bodyPr wrap="square" rtlCol="0">
            <a:spAutoFit/>
          </a:bodyPr>
          <a:lstStyle/>
          <a:p>
            <a:r>
              <a:rPr lang="en-GB" sz="2400" dirty="0">
                <a:latin typeface="+mj-lt"/>
              </a:rPr>
              <a:t>YOLO TRAINING PROCESS:</a:t>
            </a:r>
            <a:endParaRPr lang="en-IN" sz="2400" dirty="0">
              <a:latin typeface="+mj-lt"/>
            </a:endParaRPr>
          </a:p>
        </p:txBody>
      </p:sp>
      <p:pic>
        <p:nvPicPr>
          <p:cNvPr id="4" name="Picture 3">
            <a:extLst>
              <a:ext uri="{FF2B5EF4-FFF2-40B4-BE49-F238E27FC236}">
                <a16:creationId xmlns:a16="http://schemas.microsoft.com/office/drawing/2014/main" id="{CB97EB42-22FF-460E-A6B7-6E15D3F6A865}"/>
              </a:ext>
            </a:extLst>
          </p:cNvPr>
          <p:cNvPicPr>
            <a:picLocks noChangeAspect="1"/>
          </p:cNvPicPr>
          <p:nvPr/>
        </p:nvPicPr>
        <p:blipFill>
          <a:blip r:embed="rId2"/>
          <a:stretch>
            <a:fillRect/>
          </a:stretch>
        </p:blipFill>
        <p:spPr>
          <a:xfrm>
            <a:off x="143522" y="2642069"/>
            <a:ext cx="11904956" cy="29531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Rectangle 4">
            <a:extLst>
              <a:ext uri="{FF2B5EF4-FFF2-40B4-BE49-F238E27FC236}">
                <a16:creationId xmlns:a16="http://schemas.microsoft.com/office/drawing/2014/main" id="{7BEF9B56-120C-41B2-98E7-CC286499C54F}"/>
              </a:ext>
            </a:extLst>
          </p:cNvPr>
          <p:cNvSpPr/>
          <p:nvPr/>
        </p:nvSpPr>
        <p:spPr>
          <a:xfrm>
            <a:off x="143522" y="5737596"/>
            <a:ext cx="11904956" cy="923330"/>
          </a:xfrm>
          <a:prstGeom prst="rect">
            <a:avLst/>
          </a:prstGeom>
        </p:spPr>
        <p:txBody>
          <a:bodyPr wrap="square">
            <a:spAutoFit/>
          </a:bodyPr>
          <a:lstStyle/>
          <a:p>
            <a:r>
              <a:rPr lang="en-GB" dirty="0"/>
              <a:t>YOLO v11 muzzle detection and cropping from cattle face images. The central section including the Backbone and layers, which are responsible for feature extraction and detection refinement. The match metrics at the bottom ensure accurate localization.</a:t>
            </a:r>
            <a:endParaRPr lang="en-IN" dirty="0"/>
          </a:p>
        </p:txBody>
      </p:sp>
      <p:sp>
        <p:nvSpPr>
          <p:cNvPr id="7" name="Rectangle 1">
            <a:extLst>
              <a:ext uri="{FF2B5EF4-FFF2-40B4-BE49-F238E27FC236}">
                <a16:creationId xmlns:a16="http://schemas.microsoft.com/office/drawing/2014/main" id="{0C3E1BAE-AE58-44BB-82FD-ABB010DCB01C}"/>
              </a:ext>
            </a:extLst>
          </p:cNvPr>
          <p:cNvSpPr>
            <a:spLocks noChangeArrowheads="1"/>
          </p:cNvSpPr>
          <p:nvPr/>
        </p:nvSpPr>
        <p:spPr bwMode="auto">
          <a:xfrm>
            <a:off x="532660" y="1004073"/>
            <a:ext cx="772371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Manually annotated muzzle regions using the </a:t>
            </a:r>
            <a:r>
              <a:rPr kumimoji="0" lang="en-US" altLang="en-US" sz="1800" b="1" i="0" u="none" strike="noStrike" cap="none" normalizeH="0" baseline="0" dirty="0">
                <a:ln>
                  <a:noFill/>
                </a:ln>
                <a:solidFill>
                  <a:schemeClr val="tx1"/>
                </a:solidFill>
                <a:effectLst/>
              </a:rPr>
              <a:t>Roboflow</a:t>
            </a:r>
            <a:r>
              <a:rPr kumimoji="0" lang="en-US" altLang="en-US" sz="1800" b="0" i="0" u="none" strike="noStrike" cap="none" normalizeH="0" baseline="0" dirty="0">
                <a:ln>
                  <a:noFill/>
                </a:ln>
                <a:solidFill>
                  <a:schemeClr val="tx1"/>
                </a:solidFill>
                <a:effectLst/>
              </a:rPr>
              <a:t> application.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Downloaded the annotated images and performed dataset splitting.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Trained a </a:t>
            </a:r>
            <a:r>
              <a:rPr kumimoji="0" lang="en-US" altLang="en-US" sz="1800" b="1" i="0" u="none" strike="noStrike" cap="none" normalizeH="0" baseline="0" dirty="0">
                <a:ln>
                  <a:noFill/>
                </a:ln>
                <a:solidFill>
                  <a:schemeClr val="tx1"/>
                </a:solidFill>
                <a:effectLst/>
              </a:rPr>
              <a:t>YOLOv11</a:t>
            </a:r>
            <a:r>
              <a:rPr kumimoji="0" lang="en-US" altLang="en-US" sz="1800" b="0" i="0" u="none" strike="noStrike" cap="none" normalizeH="0" baseline="0" dirty="0">
                <a:ln>
                  <a:noFill/>
                </a:ln>
                <a:solidFill>
                  <a:schemeClr val="tx1"/>
                </a:solidFill>
                <a:effectLst/>
              </a:rPr>
              <a:t> model specifically for </a:t>
            </a:r>
            <a:r>
              <a:rPr kumimoji="0" lang="en-US" altLang="en-US" sz="1800" b="1" i="0" u="none" strike="noStrike" cap="none" normalizeH="0" baseline="0" dirty="0">
                <a:ln>
                  <a:noFill/>
                </a:ln>
                <a:solidFill>
                  <a:schemeClr val="tx1"/>
                </a:solidFill>
                <a:effectLst/>
              </a:rPr>
              <a:t>muzzle region detection</a:t>
            </a:r>
            <a:r>
              <a:rPr kumimoji="0" lang="en-US" altLang="en-US" sz="18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Utilized the trained YOLOv11 model to </a:t>
            </a:r>
            <a:r>
              <a:rPr kumimoji="0" lang="en-US" altLang="en-US" sz="1800" b="1" i="0" u="none" strike="noStrike" cap="none" normalizeH="0" baseline="0" dirty="0">
                <a:ln>
                  <a:noFill/>
                </a:ln>
                <a:solidFill>
                  <a:schemeClr val="tx1"/>
                </a:solidFill>
                <a:effectLst/>
              </a:rPr>
              <a:t>extract muzzle regions</a:t>
            </a:r>
            <a:r>
              <a:rPr kumimoji="0" lang="en-US" altLang="en-US" sz="1800" b="0" i="0" u="none" strike="noStrike" cap="none" normalizeH="0" baseline="0" dirty="0">
                <a:ln>
                  <a:noFill/>
                </a:ln>
                <a:solidFill>
                  <a:schemeClr val="tx1"/>
                </a:solidFill>
                <a:effectLst/>
              </a:rPr>
              <a:t> from the images.</a:t>
            </a:r>
          </a:p>
        </p:txBody>
      </p:sp>
    </p:spTree>
    <p:extLst>
      <p:ext uri="{BB962C8B-B14F-4D97-AF65-F5344CB8AC3E}">
        <p14:creationId xmlns:p14="http://schemas.microsoft.com/office/powerpoint/2010/main" val="1757175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9DC5034-746E-4777-B5CD-DF712519BC92}"/>
              </a:ext>
            </a:extLst>
          </p:cNvPr>
          <p:cNvPicPr>
            <a:picLocks noChangeAspect="1"/>
          </p:cNvPicPr>
          <p:nvPr/>
        </p:nvPicPr>
        <p:blipFill rotWithShape="1">
          <a:blip r:embed="rId2"/>
          <a:srcRect l="45469" t="12130" r="26361"/>
          <a:stretch/>
        </p:blipFill>
        <p:spPr>
          <a:xfrm>
            <a:off x="211873" y="111511"/>
            <a:ext cx="2821259" cy="401880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 name="Picture 9">
            <a:extLst>
              <a:ext uri="{FF2B5EF4-FFF2-40B4-BE49-F238E27FC236}">
                <a16:creationId xmlns:a16="http://schemas.microsoft.com/office/drawing/2014/main" id="{CB83F9B1-0134-4AE0-A8D2-2713347399C5}"/>
              </a:ext>
            </a:extLst>
          </p:cNvPr>
          <p:cNvPicPr>
            <a:picLocks noChangeAspect="1"/>
          </p:cNvPicPr>
          <p:nvPr/>
        </p:nvPicPr>
        <p:blipFill rotWithShape="1">
          <a:blip r:embed="rId3"/>
          <a:srcRect l="50246" t="15471" r="25794" b="9675"/>
          <a:stretch/>
        </p:blipFill>
        <p:spPr>
          <a:xfrm>
            <a:off x="8953500" y="2317948"/>
            <a:ext cx="3026627" cy="429798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1" name="Rectangle 1">
            <a:extLst>
              <a:ext uri="{FF2B5EF4-FFF2-40B4-BE49-F238E27FC236}">
                <a16:creationId xmlns:a16="http://schemas.microsoft.com/office/drawing/2014/main" id="{1F07B06F-0CF1-438E-BF2B-B7EE23084857}"/>
              </a:ext>
            </a:extLst>
          </p:cNvPr>
          <p:cNvSpPr>
            <a:spLocks noChangeArrowheads="1"/>
          </p:cNvSpPr>
          <p:nvPr/>
        </p:nvSpPr>
        <p:spPr bwMode="auto">
          <a:xfrm>
            <a:off x="3603982" y="2976156"/>
            <a:ext cx="498403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rPr>
              <a:t>Manually annotated muzzle regions using the </a:t>
            </a:r>
            <a:r>
              <a:rPr kumimoji="0" lang="en-US" altLang="en-US" sz="1800" b="1" i="0" u="none" strike="noStrike" cap="none" normalizeH="0" baseline="0" dirty="0">
                <a:ln>
                  <a:noFill/>
                </a:ln>
                <a:solidFill>
                  <a:schemeClr val="tx1"/>
                </a:solidFill>
                <a:effectLst/>
              </a:rPr>
              <a:t>Roboflow</a:t>
            </a:r>
            <a:r>
              <a:rPr kumimoji="0" lang="en-US" altLang="en-US" sz="1800" b="0" i="0" u="none" strike="noStrike" cap="none" normalizeH="0" baseline="0" dirty="0">
                <a:ln>
                  <a:noFill/>
                </a:ln>
                <a:solidFill>
                  <a:schemeClr val="tx1"/>
                </a:solidFill>
                <a:effectLst/>
              </a:rPr>
              <a:t> application.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rPr>
              <a:t>Downloaded the annotated images and performed dataset splitting.</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rPr>
              <a:t>Trained a </a:t>
            </a:r>
            <a:r>
              <a:rPr kumimoji="0" lang="en-US" altLang="en-US" sz="1800" b="1" i="0" u="none" strike="noStrike" cap="none" normalizeH="0" baseline="0" dirty="0">
                <a:ln>
                  <a:noFill/>
                </a:ln>
                <a:solidFill>
                  <a:schemeClr val="tx1"/>
                </a:solidFill>
                <a:effectLst/>
              </a:rPr>
              <a:t>YOLOv11</a:t>
            </a:r>
            <a:r>
              <a:rPr kumimoji="0" lang="en-US" altLang="en-US" sz="1800" b="0" i="0" u="none" strike="noStrike" cap="none" normalizeH="0" baseline="0" dirty="0">
                <a:ln>
                  <a:noFill/>
                </a:ln>
                <a:solidFill>
                  <a:schemeClr val="tx1"/>
                </a:solidFill>
                <a:effectLst/>
              </a:rPr>
              <a:t> model specifically for </a:t>
            </a:r>
            <a:r>
              <a:rPr kumimoji="0" lang="en-US" altLang="en-US" sz="1800" b="1" i="0" u="none" strike="noStrike" cap="none" normalizeH="0" baseline="0" dirty="0">
                <a:ln>
                  <a:noFill/>
                </a:ln>
                <a:solidFill>
                  <a:schemeClr val="tx1"/>
                </a:solidFill>
                <a:effectLst/>
              </a:rPr>
              <a:t>muzzle region detection</a:t>
            </a:r>
            <a:r>
              <a:rPr kumimoji="0" lang="en-US" altLang="en-US" sz="1800" b="0" i="0" u="none" strike="noStrike" cap="none" normalizeH="0" baseline="0" dirty="0">
                <a:ln>
                  <a:noFill/>
                </a:ln>
                <a:solidFill>
                  <a:schemeClr val="tx1"/>
                </a:solidFill>
                <a:effectLst/>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rPr>
              <a:t>Utilized the trained YOLOv11 model to </a:t>
            </a:r>
            <a:r>
              <a:rPr kumimoji="0" lang="en-US" altLang="en-US" sz="1800" b="1" i="0" u="none" strike="noStrike" cap="none" normalizeH="0" baseline="0" dirty="0">
                <a:ln>
                  <a:noFill/>
                </a:ln>
                <a:solidFill>
                  <a:schemeClr val="tx1"/>
                </a:solidFill>
                <a:effectLst/>
              </a:rPr>
              <a:t>extract muzzle regions</a:t>
            </a:r>
            <a:r>
              <a:rPr kumimoji="0" lang="en-US" altLang="en-US" sz="1800" b="0" i="0" u="none" strike="noStrike" cap="none" normalizeH="0" baseline="0" dirty="0">
                <a:ln>
                  <a:noFill/>
                </a:ln>
                <a:solidFill>
                  <a:schemeClr val="tx1"/>
                </a:solidFill>
                <a:effectLst/>
              </a:rPr>
              <a:t> from the images.</a:t>
            </a:r>
          </a:p>
        </p:txBody>
      </p:sp>
      <p:sp>
        <p:nvSpPr>
          <p:cNvPr id="12" name="TextBox 11">
            <a:extLst>
              <a:ext uri="{FF2B5EF4-FFF2-40B4-BE49-F238E27FC236}">
                <a16:creationId xmlns:a16="http://schemas.microsoft.com/office/drawing/2014/main" id="{64E7D4D0-57BF-41E3-B58C-4243A2F3C49C}"/>
              </a:ext>
            </a:extLst>
          </p:cNvPr>
          <p:cNvSpPr txBox="1"/>
          <p:nvPr/>
        </p:nvSpPr>
        <p:spPr>
          <a:xfrm>
            <a:off x="4738628" y="458079"/>
            <a:ext cx="5416025" cy="584775"/>
          </a:xfrm>
          <a:prstGeom prst="rect">
            <a:avLst/>
          </a:prstGeom>
          <a:noFill/>
        </p:spPr>
        <p:txBody>
          <a:bodyPr wrap="square" rtlCol="0">
            <a:spAutoFit/>
          </a:bodyPr>
          <a:lstStyle/>
          <a:p>
            <a:r>
              <a:rPr lang="en-GB" sz="3200" dirty="0">
                <a:latin typeface="+mj-lt"/>
              </a:rPr>
              <a:t>YOLO TRAINING PROCESS:</a:t>
            </a:r>
            <a:endParaRPr lang="en-IN" sz="3200" dirty="0">
              <a:latin typeface="+mj-lt"/>
            </a:endParaRPr>
          </a:p>
        </p:txBody>
      </p:sp>
    </p:spTree>
    <p:extLst>
      <p:ext uri="{BB962C8B-B14F-4D97-AF65-F5344CB8AC3E}">
        <p14:creationId xmlns:p14="http://schemas.microsoft.com/office/powerpoint/2010/main" val="39122666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9F56A7E-8C7B-4044-98D0-845C12222D75}"/>
              </a:ext>
            </a:extLst>
          </p:cNvPr>
          <p:cNvPicPr>
            <a:picLocks noChangeAspect="1"/>
          </p:cNvPicPr>
          <p:nvPr/>
        </p:nvPicPr>
        <p:blipFill>
          <a:blip r:embed="rId2"/>
          <a:stretch>
            <a:fillRect/>
          </a:stretch>
        </p:blipFill>
        <p:spPr>
          <a:xfrm>
            <a:off x="1977753" y="674728"/>
            <a:ext cx="8236493" cy="59702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TextBox 2">
            <a:extLst>
              <a:ext uri="{FF2B5EF4-FFF2-40B4-BE49-F238E27FC236}">
                <a16:creationId xmlns:a16="http://schemas.microsoft.com/office/drawing/2014/main" id="{2D648456-969B-4A2A-B6F9-926AECC9441D}"/>
              </a:ext>
            </a:extLst>
          </p:cNvPr>
          <p:cNvSpPr txBox="1"/>
          <p:nvPr/>
        </p:nvSpPr>
        <p:spPr>
          <a:xfrm>
            <a:off x="284086" y="213063"/>
            <a:ext cx="5211192" cy="461665"/>
          </a:xfrm>
          <a:prstGeom prst="rect">
            <a:avLst/>
          </a:prstGeom>
          <a:noFill/>
        </p:spPr>
        <p:txBody>
          <a:bodyPr wrap="square" rtlCol="0">
            <a:spAutoFit/>
          </a:bodyPr>
          <a:lstStyle/>
          <a:p>
            <a:r>
              <a:rPr lang="en-GB" sz="2400" dirty="0">
                <a:latin typeface="+mj-lt"/>
              </a:rPr>
              <a:t>METHODOLOGY:</a:t>
            </a:r>
            <a:endParaRPr lang="en-IN" sz="2400" dirty="0">
              <a:latin typeface="+mj-lt"/>
            </a:endParaRPr>
          </a:p>
        </p:txBody>
      </p:sp>
    </p:spTree>
    <p:extLst>
      <p:ext uri="{BB962C8B-B14F-4D97-AF65-F5344CB8AC3E}">
        <p14:creationId xmlns:p14="http://schemas.microsoft.com/office/powerpoint/2010/main" val="3460917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7C1F2B3-11E6-4A4E-A976-AE0A7E8A741B}"/>
              </a:ext>
            </a:extLst>
          </p:cNvPr>
          <p:cNvPicPr>
            <a:picLocks noChangeAspect="1"/>
          </p:cNvPicPr>
          <p:nvPr/>
        </p:nvPicPr>
        <p:blipFill>
          <a:blip r:embed="rId2"/>
          <a:stretch>
            <a:fillRect/>
          </a:stretch>
        </p:blipFill>
        <p:spPr>
          <a:xfrm>
            <a:off x="162756" y="1236459"/>
            <a:ext cx="11886490" cy="450937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Rectangle 2">
            <a:extLst>
              <a:ext uri="{FF2B5EF4-FFF2-40B4-BE49-F238E27FC236}">
                <a16:creationId xmlns:a16="http://schemas.microsoft.com/office/drawing/2014/main" id="{C2EB120B-F299-426D-B73A-7880D69599D0}"/>
              </a:ext>
            </a:extLst>
          </p:cNvPr>
          <p:cNvSpPr/>
          <p:nvPr/>
        </p:nvSpPr>
        <p:spPr>
          <a:xfrm>
            <a:off x="162757" y="5819261"/>
            <a:ext cx="12029243" cy="923330"/>
          </a:xfrm>
          <a:prstGeom prst="rect">
            <a:avLst/>
          </a:prstGeom>
        </p:spPr>
        <p:txBody>
          <a:bodyPr wrap="square">
            <a:spAutoFit/>
          </a:bodyPr>
          <a:lstStyle/>
          <a:p>
            <a:r>
              <a:rPr lang="en-IN" dirty="0"/>
              <a:t>Pandey, S., Jawade, B., &amp; Setlur, S. (2025). Ridgeformer: Multi-stage contrastive training for fine-grained cross-domain fingerprint recognition. In 2025 IEEE International Conference on Image Processing (ICIP). IEEE. (Original work published as arXiv preprint arXiv:2506.01806). </a:t>
            </a:r>
            <a:r>
              <a:rPr lang="en-IN" dirty="0">
                <a:hlinkClick r:id="rId3"/>
              </a:rPr>
              <a:t>https://arxiv.org/abs/2506.01806</a:t>
            </a:r>
            <a:endParaRPr lang="en-IN" dirty="0"/>
          </a:p>
        </p:txBody>
      </p:sp>
      <p:sp>
        <p:nvSpPr>
          <p:cNvPr id="4" name="TextBox 3">
            <a:extLst>
              <a:ext uri="{FF2B5EF4-FFF2-40B4-BE49-F238E27FC236}">
                <a16:creationId xmlns:a16="http://schemas.microsoft.com/office/drawing/2014/main" id="{CAF271ED-1B63-4FF5-98AA-4E0FE063B127}"/>
              </a:ext>
            </a:extLst>
          </p:cNvPr>
          <p:cNvSpPr txBox="1"/>
          <p:nvPr/>
        </p:nvSpPr>
        <p:spPr>
          <a:xfrm>
            <a:off x="346229" y="239697"/>
            <a:ext cx="6267635" cy="461665"/>
          </a:xfrm>
          <a:prstGeom prst="rect">
            <a:avLst/>
          </a:prstGeom>
          <a:noFill/>
        </p:spPr>
        <p:txBody>
          <a:bodyPr wrap="square" rtlCol="0">
            <a:spAutoFit/>
          </a:bodyPr>
          <a:lstStyle/>
          <a:p>
            <a:r>
              <a:rPr lang="en-GB" sz="2400" dirty="0">
                <a:latin typeface="+mj-lt"/>
              </a:rPr>
              <a:t>OTHER PIPELINE I FOLLOWED:</a:t>
            </a:r>
            <a:endParaRPr lang="en-IN" sz="2400" dirty="0">
              <a:latin typeface="+mj-lt"/>
            </a:endParaRPr>
          </a:p>
        </p:txBody>
      </p:sp>
    </p:spTree>
    <p:extLst>
      <p:ext uri="{BB962C8B-B14F-4D97-AF65-F5344CB8AC3E}">
        <p14:creationId xmlns:p14="http://schemas.microsoft.com/office/powerpoint/2010/main" val="1976860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BACE29-ADAB-4BDB-8090-BF4BABC97C18}"/>
              </a:ext>
            </a:extLst>
          </p:cNvPr>
          <p:cNvSpPr txBox="1"/>
          <p:nvPr/>
        </p:nvSpPr>
        <p:spPr>
          <a:xfrm>
            <a:off x="168676" y="226563"/>
            <a:ext cx="10227075" cy="461665"/>
          </a:xfrm>
          <a:prstGeom prst="rect">
            <a:avLst/>
          </a:prstGeom>
          <a:noFill/>
        </p:spPr>
        <p:txBody>
          <a:bodyPr wrap="square" rtlCol="0">
            <a:spAutoFit/>
          </a:bodyPr>
          <a:lstStyle/>
          <a:p>
            <a:r>
              <a:rPr lang="en-GB" sz="2400" dirty="0">
                <a:latin typeface="+mj-lt"/>
              </a:rPr>
              <a:t>LITERATURE VIEW:</a:t>
            </a:r>
            <a:endParaRPr lang="en-IN" sz="2400" dirty="0">
              <a:latin typeface="+mj-lt"/>
            </a:endParaRPr>
          </a:p>
        </p:txBody>
      </p:sp>
      <p:sp>
        <p:nvSpPr>
          <p:cNvPr id="3" name="Rectangle 2">
            <a:extLst>
              <a:ext uri="{FF2B5EF4-FFF2-40B4-BE49-F238E27FC236}">
                <a16:creationId xmlns:a16="http://schemas.microsoft.com/office/drawing/2014/main" id="{CD2C1D8C-82CC-4518-819D-1472C7876A0A}"/>
              </a:ext>
            </a:extLst>
          </p:cNvPr>
          <p:cNvSpPr/>
          <p:nvPr/>
        </p:nvSpPr>
        <p:spPr>
          <a:xfrm>
            <a:off x="99134" y="1141689"/>
            <a:ext cx="11993732" cy="2031325"/>
          </a:xfrm>
          <a:prstGeom prst="rect">
            <a:avLst/>
          </a:prstGeom>
        </p:spPr>
        <p:txBody>
          <a:bodyPr wrap="square">
            <a:spAutoFit/>
          </a:bodyPr>
          <a:lstStyle/>
          <a:p>
            <a:pPr marL="285750" indent="-285750">
              <a:buFont typeface="Arial" panose="020B0604020202020204" pitchFamily="34" charset="0"/>
              <a:buChar char="•"/>
            </a:pPr>
            <a:r>
              <a:rPr lang="en-IN" dirty="0"/>
              <a:t>RIDGEFORMER:MUTLI-STAGECONTRASTIVETRAININGFORFINE-GRAINED CROSS-DOMAINFINGERPRINTRECOGNITION</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Cattle verification with YOLO and cross-attention encoder-based pairwise triplet loss</a:t>
            </a:r>
            <a:endParaRPr lang="en-IN"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MHAFF: Multi-Head Attention Feature Fusion of CNN and Transformer for Cattle Identification</a:t>
            </a:r>
            <a:endParaRPr lang="en-IN"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Automated Muzzle Detection and Biometric Identification via Few-Shot Deep Transfer Learning of Mixed Breed Cattle</a:t>
            </a:r>
            <a:endParaRPr lang="en-IN" dirty="0"/>
          </a:p>
        </p:txBody>
      </p:sp>
      <p:sp>
        <p:nvSpPr>
          <p:cNvPr id="7" name="TextBox 6">
            <a:extLst>
              <a:ext uri="{FF2B5EF4-FFF2-40B4-BE49-F238E27FC236}">
                <a16:creationId xmlns:a16="http://schemas.microsoft.com/office/drawing/2014/main" id="{13A8A2C2-2217-48CA-A48E-11F3B3D9BB6B}"/>
              </a:ext>
            </a:extLst>
          </p:cNvPr>
          <p:cNvSpPr txBox="1"/>
          <p:nvPr/>
        </p:nvSpPr>
        <p:spPr>
          <a:xfrm>
            <a:off x="0" y="4323113"/>
            <a:ext cx="11897557" cy="2308324"/>
          </a:xfrm>
          <a:prstGeom prst="rect">
            <a:avLst/>
          </a:prstGeom>
          <a:noFill/>
        </p:spPr>
        <p:txBody>
          <a:bodyPr wrap="square" rtlCol="0">
            <a:spAutoFit/>
          </a:bodyPr>
          <a:lstStyle/>
          <a:p>
            <a:pPr marL="285750" indent="-285750">
              <a:buFont typeface="Arial" panose="020B0604020202020204" pitchFamily="34" charset="0"/>
              <a:buChar char="•"/>
            </a:pPr>
            <a:r>
              <a:rPr lang="en-IN" sz="1600" dirty="0"/>
              <a:t>Shojaeipour, A., Falzon, G., Kwan, P., Hadavi, N., Cowley, F. C., &amp; Paul, D. (2021). Automated muzzle detection and biometric identification via few-shot deep transfer learning of mixed breed cattle. Agronomy, 11(11), 2365. </a:t>
            </a:r>
            <a:r>
              <a:rPr lang="en-IN" sz="1600" dirty="0">
                <a:hlinkClick r:id="rId2"/>
              </a:rPr>
              <a:t>https://doi.org/10.3390/agronomy11112365</a:t>
            </a:r>
            <a:endParaRPr lang="en-IN" sz="1600" dirty="0"/>
          </a:p>
          <a:p>
            <a:pPr marL="285750" indent="-285750">
              <a:buFont typeface="Arial" panose="020B0604020202020204" pitchFamily="34" charset="0"/>
              <a:buChar char="•"/>
            </a:pPr>
            <a:r>
              <a:rPr lang="en-GB" sz="1600" dirty="0"/>
              <a:t>Kumar, N., Sharma, A., Kumar, A., Singh, R., &amp; Singh, S. K. (2025). Cattle verification with YOLO and cross-attention encoder-based pairwise triplet loss. Computers and Electronics in Agriculture, 234, 110223. </a:t>
            </a:r>
            <a:r>
              <a:rPr lang="en-GB" sz="1600" dirty="0">
                <a:hlinkClick r:id="rId3"/>
              </a:rPr>
              <a:t>https://doi.org/10.1016/j.compag.2025.110223</a:t>
            </a:r>
            <a:endParaRPr lang="en-GB" sz="1600" dirty="0"/>
          </a:p>
          <a:p>
            <a:pPr marL="285750" indent="-285750">
              <a:buFont typeface="Arial" panose="020B0604020202020204" pitchFamily="34" charset="0"/>
              <a:buChar char="•"/>
            </a:pPr>
            <a:r>
              <a:rPr lang="en-IN" sz="1600" dirty="0"/>
              <a:t>Pandey, S., Jawade, B., &amp; Setlur, S. (2025). Ridgeformer: Multi-stage contrastive training for fine-grained cross-domain fingerprint recognition. In 2025 IEEE International Conference on Image Processing (ICIP). IEEE. (Original work published as arXiv preprint arXiv:2506.01806). </a:t>
            </a:r>
            <a:r>
              <a:rPr lang="en-IN" sz="1600" dirty="0">
                <a:hlinkClick r:id="rId4"/>
              </a:rPr>
              <a:t>https://arxiv.org/abs/2506.01806</a:t>
            </a:r>
            <a:endParaRPr lang="en-IN" sz="1600" dirty="0"/>
          </a:p>
          <a:p>
            <a:pPr marL="285750" indent="-285750">
              <a:buFont typeface="Arial" panose="020B0604020202020204" pitchFamily="34" charset="0"/>
              <a:buChar char="•"/>
            </a:pPr>
            <a:r>
              <a:rPr lang="en-IN" sz="1600" dirty="0"/>
              <a:t>Dulal, R., Zheng, L., &amp; Kabir, M. A. (2025). MHAFF: Multihead attention feature fusion of CNN and transformer for cattle identification. IEEE Transactions on AgriFood Electronics. Advance online publication. </a:t>
            </a:r>
            <a:r>
              <a:rPr lang="en-IN" sz="1600" dirty="0">
                <a:hlinkClick r:id="rId5"/>
              </a:rPr>
              <a:t>https://doi.org/10.1109/TAFE.2025.3574708</a:t>
            </a:r>
            <a:endParaRPr lang="en-IN" sz="1600" dirty="0"/>
          </a:p>
        </p:txBody>
      </p:sp>
    </p:spTree>
    <p:extLst>
      <p:ext uri="{BB962C8B-B14F-4D97-AF65-F5344CB8AC3E}">
        <p14:creationId xmlns:p14="http://schemas.microsoft.com/office/powerpoint/2010/main" val="3147251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E021DC-D7BD-411C-88B7-D5A6F2F382E0}"/>
              </a:ext>
            </a:extLst>
          </p:cNvPr>
          <p:cNvSpPr txBox="1"/>
          <p:nvPr/>
        </p:nvSpPr>
        <p:spPr>
          <a:xfrm>
            <a:off x="346229" y="266330"/>
            <a:ext cx="6285390" cy="523220"/>
          </a:xfrm>
          <a:prstGeom prst="rect">
            <a:avLst/>
          </a:prstGeom>
          <a:noFill/>
        </p:spPr>
        <p:txBody>
          <a:bodyPr wrap="square" rtlCol="0">
            <a:spAutoFit/>
          </a:bodyPr>
          <a:lstStyle/>
          <a:p>
            <a:r>
              <a:rPr lang="en-GB" sz="2800" dirty="0">
                <a:latin typeface="+mj-lt"/>
              </a:rPr>
              <a:t>RESULTS:</a:t>
            </a:r>
            <a:endParaRPr lang="en-IN" sz="2800" dirty="0">
              <a:latin typeface="+mj-lt"/>
            </a:endParaRPr>
          </a:p>
        </p:txBody>
      </p:sp>
      <p:graphicFrame>
        <p:nvGraphicFramePr>
          <p:cNvPr id="5" name="Table 4">
            <a:extLst>
              <a:ext uri="{FF2B5EF4-FFF2-40B4-BE49-F238E27FC236}">
                <a16:creationId xmlns:a16="http://schemas.microsoft.com/office/drawing/2014/main" id="{4E3C32A0-EFE3-41A8-9489-16F667CC8927}"/>
              </a:ext>
            </a:extLst>
          </p:cNvPr>
          <p:cNvGraphicFramePr>
            <a:graphicFrameLocks noGrp="1"/>
          </p:cNvGraphicFramePr>
          <p:nvPr>
            <p:extLst>
              <p:ext uri="{D42A27DB-BD31-4B8C-83A1-F6EECF244321}">
                <p14:modId xmlns:p14="http://schemas.microsoft.com/office/powerpoint/2010/main" val="325043816"/>
              </p:ext>
            </p:extLst>
          </p:nvPr>
        </p:nvGraphicFramePr>
        <p:xfrm>
          <a:off x="1575246" y="1331758"/>
          <a:ext cx="9263740" cy="4416637"/>
        </p:xfrm>
        <a:graphic>
          <a:graphicData uri="http://schemas.openxmlformats.org/drawingml/2006/table">
            <a:tbl>
              <a:tblPr>
                <a:tableStyleId>{5C22544A-7EE6-4342-B048-85BDC9FD1C3A}</a:tableStyleId>
              </a:tblPr>
              <a:tblGrid>
                <a:gridCol w="1943004">
                  <a:extLst>
                    <a:ext uri="{9D8B030D-6E8A-4147-A177-3AD203B41FA5}">
                      <a16:colId xmlns:a16="http://schemas.microsoft.com/office/drawing/2014/main" val="685164339"/>
                    </a:ext>
                  </a:extLst>
                </a:gridCol>
                <a:gridCol w="1861523">
                  <a:extLst>
                    <a:ext uri="{9D8B030D-6E8A-4147-A177-3AD203B41FA5}">
                      <a16:colId xmlns:a16="http://schemas.microsoft.com/office/drawing/2014/main" val="3243298180"/>
                    </a:ext>
                  </a:extLst>
                </a:gridCol>
                <a:gridCol w="2011948">
                  <a:extLst>
                    <a:ext uri="{9D8B030D-6E8A-4147-A177-3AD203B41FA5}">
                      <a16:colId xmlns:a16="http://schemas.microsoft.com/office/drawing/2014/main" val="2921181329"/>
                    </a:ext>
                  </a:extLst>
                </a:gridCol>
                <a:gridCol w="3447265">
                  <a:extLst>
                    <a:ext uri="{9D8B030D-6E8A-4147-A177-3AD203B41FA5}">
                      <a16:colId xmlns:a16="http://schemas.microsoft.com/office/drawing/2014/main" val="2186736402"/>
                    </a:ext>
                  </a:extLst>
                </a:gridCol>
              </a:tblGrid>
              <a:tr h="371928">
                <a:tc>
                  <a:txBody>
                    <a:bodyPr/>
                    <a:lstStyle/>
                    <a:p>
                      <a:pPr algn="ctr" fontAlgn="b"/>
                      <a:endParaRPr lang="en-IN" sz="1100" b="0" i="0" u="none" strike="noStrike" dirty="0">
                        <a:solidFill>
                          <a:srgbClr val="000000"/>
                        </a:solidFill>
                        <a:effectLst/>
                        <a:latin typeface="Calibri" panose="020F0502020204030204" pitchFamily="34" charset="0"/>
                      </a:endParaRPr>
                    </a:p>
                  </a:txBody>
                  <a:tcPr marL="7620" marR="7620" marT="7620" marB="0" anchor="b"/>
                </a:tc>
                <a:tc rowSpan="2" gridSpan="2">
                  <a:txBody>
                    <a:bodyPr/>
                    <a:lstStyle/>
                    <a:p>
                      <a:pPr algn="ctr" fontAlgn="b"/>
                      <a:r>
                        <a:rPr lang="en-IN" sz="2800" u="none" strike="noStrike" dirty="0">
                          <a:effectLst/>
                        </a:rPr>
                        <a:t>CATTLE-1-DATASET</a:t>
                      </a:r>
                      <a:endParaRPr lang="en-IN" sz="2800" b="1" i="0" u="none" strike="noStrike" dirty="0">
                        <a:solidFill>
                          <a:srgbClr val="000000"/>
                        </a:solidFill>
                        <a:effectLst/>
                        <a:latin typeface="Calibri" panose="020F0502020204030204" pitchFamily="34" charset="0"/>
                      </a:endParaRPr>
                    </a:p>
                  </a:txBody>
                  <a:tcPr marL="7620" marR="7620" marT="7620" marB="0" anchor="b"/>
                </a:tc>
                <a:tc rowSpan="2" hMerge="1">
                  <a:txBody>
                    <a:bodyPr/>
                    <a:lstStyle/>
                    <a:p>
                      <a:endParaRPr lang="en-IN"/>
                    </a:p>
                  </a:txBody>
                  <a:tcPr/>
                </a:tc>
                <a:tc rowSpan="2">
                  <a:txBody>
                    <a:bodyPr/>
                    <a:lstStyle/>
                    <a:p>
                      <a:pPr algn="ctr" fontAlgn="b"/>
                      <a:r>
                        <a:rPr lang="en-IN" sz="2800" u="none" strike="noStrike" dirty="0">
                          <a:effectLst/>
                        </a:rPr>
                        <a:t>CATTLE-3-DATASET</a:t>
                      </a:r>
                      <a:endParaRPr lang="en-IN" sz="28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919753"/>
                  </a:ext>
                </a:extLst>
              </a:tr>
              <a:tr h="371928">
                <a:tc>
                  <a:txBody>
                    <a:bodyPr/>
                    <a:lstStyle/>
                    <a:p>
                      <a:pPr algn="ctr" fontAlgn="b"/>
                      <a:endParaRPr lang="en-IN" sz="1100" b="0" i="0" u="none" strike="noStrike" dirty="0">
                        <a:solidFill>
                          <a:srgbClr val="000000"/>
                        </a:solidFill>
                        <a:effectLst/>
                        <a:latin typeface="Calibri" panose="020F0502020204030204" pitchFamily="34" charset="0"/>
                      </a:endParaRPr>
                    </a:p>
                  </a:txBody>
                  <a:tcPr marL="7620" marR="7620" marT="7620" marB="0" anchor="b"/>
                </a:tc>
                <a:tc gridSpan="2" vMerge="1">
                  <a:txBody>
                    <a:bodyPr/>
                    <a:lstStyle/>
                    <a:p>
                      <a:endParaRPr lang="en-IN"/>
                    </a:p>
                  </a:txBody>
                  <a:tcPr/>
                </a:tc>
                <a:tc hMerge="1" vMerge="1">
                  <a:txBody>
                    <a:bodyPr/>
                    <a:lstStyle/>
                    <a:p>
                      <a:endParaRPr lang="en-IN"/>
                    </a:p>
                  </a:txBody>
                  <a:tcPr/>
                </a:tc>
                <a:tc vMerge="1">
                  <a:txBody>
                    <a:bodyPr/>
                    <a:lstStyle/>
                    <a:p>
                      <a:endParaRPr lang="en-IN"/>
                    </a:p>
                  </a:txBody>
                  <a:tcPr/>
                </a:tc>
                <a:extLst>
                  <a:ext uri="{0D108BD9-81ED-4DB2-BD59-A6C34878D82A}">
                    <a16:rowId xmlns:a16="http://schemas.microsoft.com/office/drawing/2014/main" val="2754937266"/>
                  </a:ext>
                </a:extLst>
              </a:tr>
              <a:tr h="449413">
                <a:tc>
                  <a:txBody>
                    <a:bodyPr/>
                    <a:lstStyle/>
                    <a:p>
                      <a:pPr algn="ctr" fontAlgn="b"/>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2000" u="none" strike="noStrike" dirty="0">
                          <a:effectLst/>
                        </a:rPr>
                        <a:t>Author</a:t>
                      </a:r>
                      <a:endParaRPr lang="en-IN"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2000" u="none" strike="noStrike" dirty="0">
                          <a:effectLst/>
                        </a:rPr>
                        <a:t>Mine</a:t>
                      </a:r>
                      <a:endParaRPr lang="en-IN"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2000" u="none" strike="noStrike" dirty="0">
                          <a:effectLst/>
                        </a:rPr>
                        <a:t>Mine</a:t>
                      </a:r>
                      <a:endParaRPr lang="en-IN" sz="20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546302279"/>
                  </a:ext>
                </a:extLst>
              </a:tr>
              <a:tr h="402921">
                <a:tc>
                  <a:txBody>
                    <a:bodyPr/>
                    <a:lstStyle/>
                    <a:p>
                      <a:pPr algn="ctr" fontAlgn="b"/>
                      <a:r>
                        <a:rPr lang="en-IN" sz="2000" u="none" strike="noStrike" dirty="0">
                          <a:effectLst/>
                        </a:rPr>
                        <a:t>Accuracy</a:t>
                      </a:r>
                      <a:endParaRPr lang="en-IN"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800" u="none" strike="noStrike" dirty="0">
                          <a:effectLst/>
                        </a:rPr>
                        <a:t>93.67</a:t>
                      </a:r>
                      <a:endParaRPr lang="en-IN" sz="18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800" u="none" strike="noStrike" dirty="0">
                          <a:effectLst/>
                        </a:rPr>
                        <a:t>96.67</a:t>
                      </a:r>
                      <a:endParaRPr lang="en-IN" sz="18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800" u="none" strike="noStrike">
                          <a:effectLst/>
                        </a:rPr>
                        <a:t>97</a:t>
                      </a:r>
                      <a:endParaRPr lang="en-IN" sz="18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367821266"/>
                  </a:ext>
                </a:extLst>
              </a:tr>
              <a:tr h="402921">
                <a:tc>
                  <a:txBody>
                    <a:bodyPr/>
                    <a:lstStyle/>
                    <a:p>
                      <a:pPr algn="ctr" fontAlgn="b"/>
                      <a:r>
                        <a:rPr lang="en-IN" sz="2000" u="none" strike="noStrike">
                          <a:effectLst/>
                        </a:rPr>
                        <a:t>Precision</a:t>
                      </a:r>
                      <a:endParaRPr lang="en-IN"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800" u="none" strike="noStrike" dirty="0">
                          <a:effectLst/>
                        </a:rPr>
                        <a:t>92.34</a:t>
                      </a:r>
                      <a:endParaRPr lang="en-IN" sz="18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800" u="none" strike="noStrike" dirty="0">
                          <a:effectLst/>
                        </a:rPr>
                        <a:t>93.1</a:t>
                      </a:r>
                      <a:endParaRPr lang="en-IN" sz="18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800" u="none" strike="noStrike">
                          <a:effectLst/>
                        </a:rPr>
                        <a:t>97</a:t>
                      </a:r>
                      <a:endParaRPr lang="en-IN" sz="18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540313427"/>
                  </a:ext>
                </a:extLst>
              </a:tr>
              <a:tr h="402921">
                <a:tc>
                  <a:txBody>
                    <a:bodyPr/>
                    <a:lstStyle/>
                    <a:p>
                      <a:pPr algn="ctr" fontAlgn="b"/>
                      <a:r>
                        <a:rPr lang="en-IN" sz="2000" u="none" strike="noStrike" dirty="0">
                          <a:effectLst/>
                        </a:rPr>
                        <a:t>Recall</a:t>
                      </a:r>
                      <a:endParaRPr lang="en-IN"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800" u="none" strike="noStrike">
                          <a:effectLst/>
                        </a:rPr>
                        <a:t>92.89</a:t>
                      </a:r>
                      <a:endParaRPr lang="en-IN"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800" u="none" strike="noStrike" dirty="0">
                          <a:effectLst/>
                        </a:rPr>
                        <a:t>90</a:t>
                      </a:r>
                      <a:endParaRPr lang="en-IN" sz="18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800" u="none" strike="noStrike" dirty="0">
                          <a:effectLst/>
                        </a:rPr>
                        <a:t>97</a:t>
                      </a:r>
                      <a:endParaRPr lang="en-IN" sz="18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604556989"/>
                  </a:ext>
                </a:extLst>
              </a:tr>
              <a:tr h="402921">
                <a:tc>
                  <a:txBody>
                    <a:bodyPr/>
                    <a:lstStyle/>
                    <a:p>
                      <a:pPr algn="ctr" fontAlgn="b"/>
                      <a:r>
                        <a:rPr lang="en-IN" sz="2000" u="none" strike="noStrike">
                          <a:effectLst/>
                        </a:rPr>
                        <a:t>F1-Score</a:t>
                      </a:r>
                      <a:endParaRPr lang="en-IN"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800" u="none" strike="noStrike" dirty="0">
                          <a:effectLst/>
                        </a:rPr>
                        <a:t>92.61</a:t>
                      </a:r>
                      <a:endParaRPr lang="en-IN" sz="18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800" u="none" strike="noStrike" dirty="0">
                          <a:effectLst/>
                        </a:rPr>
                        <a:t>91.5</a:t>
                      </a:r>
                      <a:endParaRPr lang="en-IN" sz="18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800" u="none" strike="noStrike" dirty="0">
                          <a:effectLst/>
                        </a:rPr>
                        <a:t>97</a:t>
                      </a:r>
                      <a:endParaRPr lang="en-IN" sz="18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91947216"/>
                  </a:ext>
                </a:extLst>
              </a:tr>
              <a:tr h="402921">
                <a:tc>
                  <a:txBody>
                    <a:bodyPr/>
                    <a:lstStyle/>
                    <a:p>
                      <a:pPr algn="ctr" fontAlgn="b"/>
                      <a:r>
                        <a:rPr lang="en-IN" sz="2000" u="none" strike="noStrike">
                          <a:effectLst/>
                        </a:rPr>
                        <a:t>AUC</a:t>
                      </a:r>
                      <a:endParaRPr lang="en-IN" sz="20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800" u="none" strike="noStrike">
                          <a:effectLst/>
                        </a:rPr>
                        <a:t>93.6</a:t>
                      </a:r>
                      <a:endParaRPr lang="en-IN"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800" u="none" strike="noStrike" dirty="0">
                          <a:effectLst/>
                        </a:rPr>
                        <a:t>97.1</a:t>
                      </a:r>
                      <a:endParaRPr lang="en-IN" sz="18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800" u="none" strike="noStrike" dirty="0">
                          <a:effectLst/>
                        </a:rPr>
                        <a:t>97</a:t>
                      </a:r>
                      <a:endParaRPr lang="en-IN" sz="18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123797571"/>
                  </a:ext>
                </a:extLst>
              </a:tr>
              <a:tr h="402921">
                <a:tc>
                  <a:txBody>
                    <a:bodyPr/>
                    <a:lstStyle/>
                    <a:p>
                      <a:pPr algn="ctr" fontAlgn="b"/>
                      <a:r>
                        <a:rPr lang="en-IN" sz="2000" u="none" strike="noStrike" dirty="0">
                          <a:effectLst/>
                        </a:rPr>
                        <a:t>FAR</a:t>
                      </a:r>
                      <a:endParaRPr lang="en-IN"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800" u="none" strike="noStrike">
                          <a:effectLst/>
                        </a:rPr>
                        <a:t>0.1114</a:t>
                      </a:r>
                      <a:endParaRPr lang="en-IN"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800" u="none" strike="noStrike">
                          <a:effectLst/>
                        </a:rPr>
                        <a:t>0.06</a:t>
                      </a:r>
                      <a:endParaRPr lang="en-IN"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800" u="none" strike="noStrike" dirty="0">
                          <a:effectLst/>
                        </a:rPr>
                        <a:t>0.029</a:t>
                      </a:r>
                      <a:endParaRPr lang="en-IN" sz="18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79040543"/>
                  </a:ext>
                </a:extLst>
              </a:tr>
              <a:tr h="402921">
                <a:tc>
                  <a:txBody>
                    <a:bodyPr/>
                    <a:lstStyle/>
                    <a:p>
                      <a:pPr algn="ctr" fontAlgn="b"/>
                      <a:r>
                        <a:rPr lang="en-IN" sz="2000" u="none" strike="noStrike" dirty="0">
                          <a:effectLst/>
                        </a:rPr>
                        <a:t>FRR</a:t>
                      </a:r>
                      <a:endParaRPr lang="en-IN"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800" u="none" strike="noStrike">
                          <a:effectLst/>
                        </a:rPr>
                        <a:t>0.1761</a:t>
                      </a:r>
                      <a:endParaRPr lang="en-IN"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800" u="none" strike="noStrike">
                          <a:effectLst/>
                        </a:rPr>
                        <a:t>0.1</a:t>
                      </a:r>
                      <a:endParaRPr lang="en-IN"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800" u="none" strike="noStrike" dirty="0">
                          <a:effectLst/>
                        </a:rPr>
                        <a:t>0.029</a:t>
                      </a:r>
                      <a:endParaRPr lang="en-IN" sz="18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53293241"/>
                  </a:ext>
                </a:extLst>
              </a:tr>
              <a:tr h="402921">
                <a:tc>
                  <a:txBody>
                    <a:bodyPr/>
                    <a:lstStyle/>
                    <a:p>
                      <a:pPr algn="ctr" fontAlgn="b"/>
                      <a:r>
                        <a:rPr lang="en-IN" sz="2000" u="none" strike="noStrike" dirty="0">
                          <a:effectLst/>
                        </a:rPr>
                        <a:t>Threshold</a:t>
                      </a:r>
                      <a:endParaRPr lang="en-IN"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IN" sz="1800" u="none" strike="noStrike">
                          <a:effectLst/>
                        </a:rPr>
                        <a:t>6</a:t>
                      </a:r>
                      <a:endParaRPr lang="en-IN"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800" u="none" strike="noStrike">
                          <a:effectLst/>
                        </a:rPr>
                        <a:t>6</a:t>
                      </a:r>
                      <a:endParaRPr lang="en-IN" sz="18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IN" sz="1800" u="none" strike="noStrike" dirty="0">
                          <a:effectLst/>
                        </a:rPr>
                        <a:t>6</a:t>
                      </a:r>
                      <a:endParaRPr lang="en-IN" sz="18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830731120"/>
                  </a:ext>
                </a:extLst>
              </a:tr>
            </a:tbl>
          </a:graphicData>
        </a:graphic>
      </p:graphicFrame>
    </p:spTree>
    <p:extLst>
      <p:ext uri="{BB962C8B-B14F-4D97-AF65-F5344CB8AC3E}">
        <p14:creationId xmlns:p14="http://schemas.microsoft.com/office/powerpoint/2010/main" val="1947275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96D1439-9E7E-468C-8725-BD38BE37568A}"/>
              </a:ext>
            </a:extLst>
          </p:cNvPr>
          <p:cNvSpPr txBox="1"/>
          <p:nvPr/>
        </p:nvSpPr>
        <p:spPr>
          <a:xfrm>
            <a:off x="381740" y="284085"/>
            <a:ext cx="6454066" cy="523220"/>
          </a:xfrm>
          <a:prstGeom prst="rect">
            <a:avLst/>
          </a:prstGeom>
          <a:noFill/>
        </p:spPr>
        <p:txBody>
          <a:bodyPr wrap="square" rtlCol="0">
            <a:spAutoFit/>
          </a:bodyPr>
          <a:lstStyle/>
          <a:p>
            <a:r>
              <a:rPr lang="en-GB" sz="2800" dirty="0">
                <a:latin typeface="+mj-lt"/>
              </a:rPr>
              <a:t>FUTURE WORK: </a:t>
            </a:r>
            <a:endParaRPr lang="en-IN" sz="2800" dirty="0">
              <a:latin typeface="+mj-lt"/>
            </a:endParaRPr>
          </a:p>
        </p:txBody>
      </p:sp>
      <p:sp>
        <p:nvSpPr>
          <p:cNvPr id="3" name="TextBox 2">
            <a:extLst>
              <a:ext uri="{FF2B5EF4-FFF2-40B4-BE49-F238E27FC236}">
                <a16:creationId xmlns:a16="http://schemas.microsoft.com/office/drawing/2014/main" id="{A7091106-7AC3-4606-80B2-E732C02C79FC}"/>
              </a:ext>
            </a:extLst>
          </p:cNvPr>
          <p:cNvSpPr txBox="1"/>
          <p:nvPr/>
        </p:nvSpPr>
        <p:spPr>
          <a:xfrm>
            <a:off x="1278385" y="2041864"/>
            <a:ext cx="7998780" cy="1569660"/>
          </a:xfrm>
          <a:prstGeom prst="rect">
            <a:avLst/>
          </a:prstGeom>
          <a:noFill/>
        </p:spPr>
        <p:txBody>
          <a:bodyPr wrap="square" rtlCol="0">
            <a:spAutoFit/>
          </a:bodyPr>
          <a:lstStyle/>
          <a:p>
            <a:pPr marL="285750" indent="-285750">
              <a:buFont typeface="Arial" panose="020B0604020202020204" pitchFamily="34" charset="0"/>
              <a:buChar char="•"/>
            </a:pPr>
            <a:r>
              <a:rPr lang="en-GB" sz="2400" dirty="0">
                <a:latin typeface="Calibri" panose="020F0502020204030204" pitchFamily="34" charset="0"/>
                <a:cs typeface="Calibri" panose="020F0502020204030204" pitchFamily="34" charset="0"/>
              </a:rPr>
              <a:t>Design a Novel Pipeline for cattle verification</a:t>
            </a:r>
          </a:p>
          <a:p>
            <a:pPr marL="285750" indent="-285750">
              <a:buFont typeface="Arial" panose="020B0604020202020204" pitchFamily="34" charset="0"/>
              <a:buChar char="•"/>
            </a:pPr>
            <a:r>
              <a:rPr lang="en-GB" sz="2400" dirty="0">
                <a:latin typeface="Calibri" panose="020F0502020204030204" pitchFamily="34" charset="0"/>
                <a:cs typeface="Calibri" panose="020F0502020204030204" pitchFamily="34" charset="0"/>
              </a:rPr>
              <a:t>Experimenting with other datasets</a:t>
            </a:r>
          </a:p>
          <a:p>
            <a:pPr marL="285750" indent="-285750">
              <a:buFont typeface="Arial" panose="020B0604020202020204" pitchFamily="34" charset="0"/>
              <a:buChar char="•"/>
            </a:pPr>
            <a:r>
              <a:rPr lang="en-GB" sz="2400" dirty="0">
                <a:latin typeface="Calibri" panose="020F0502020204030204" pitchFamily="34" charset="0"/>
                <a:cs typeface="Calibri" panose="020F0502020204030204" pitchFamily="34" charset="0"/>
              </a:rPr>
              <a:t>Experimenting with other models</a:t>
            </a:r>
          </a:p>
          <a:p>
            <a:pPr marL="285750" indent="-285750">
              <a:buFont typeface="Arial" panose="020B0604020202020204" pitchFamily="34" charset="0"/>
              <a:buChar char="•"/>
            </a:pPr>
            <a:r>
              <a:rPr lang="en-GB" sz="2400" dirty="0">
                <a:latin typeface="Calibri" panose="020F0502020204030204" pitchFamily="34" charset="0"/>
                <a:cs typeface="Calibri" panose="020F0502020204030204" pitchFamily="34" charset="0"/>
              </a:rPr>
              <a:t>Experimenting with </a:t>
            </a:r>
            <a:r>
              <a:rPr lang="en-GB" sz="2400">
                <a:latin typeface="Calibri" panose="020F0502020204030204" pitchFamily="34" charset="0"/>
                <a:cs typeface="Calibri" panose="020F0502020204030204" pitchFamily="34" charset="0"/>
              </a:rPr>
              <a:t>different losses</a:t>
            </a:r>
            <a:endParaRPr lang="en-GB"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86469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B497605-676C-4398-BCE3-0257B70F6CED}"/>
              </a:ext>
            </a:extLst>
          </p:cNvPr>
          <p:cNvSpPr txBox="1"/>
          <p:nvPr/>
        </p:nvSpPr>
        <p:spPr>
          <a:xfrm>
            <a:off x="1420382" y="2367617"/>
            <a:ext cx="4323425" cy="1015663"/>
          </a:xfrm>
          <a:prstGeom prst="rect">
            <a:avLst/>
          </a:prstGeom>
          <a:noFill/>
        </p:spPr>
        <p:txBody>
          <a:bodyPr wrap="square" rtlCol="0">
            <a:spAutoFit/>
          </a:bodyPr>
          <a:lstStyle/>
          <a:p>
            <a:r>
              <a:rPr lang="en-GB" sz="6000" dirty="0">
                <a:latin typeface="+mj-lt"/>
              </a:rPr>
              <a:t>THANK YOU!</a:t>
            </a:r>
            <a:endParaRPr lang="en-IN" sz="6000" dirty="0">
              <a:latin typeface="+mj-lt"/>
            </a:endParaRPr>
          </a:p>
        </p:txBody>
      </p:sp>
      <p:pic>
        <p:nvPicPr>
          <p:cNvPr id="3" name="Picture 2">
            <a:extLst>
              <a:ext uri="{FF2B5EF4-FFF2-40B4-BE49-F238E27FC236}">
                <a16:creationId xmlns:a16="http://schemas.microsoft.com/office/drawing/2014/main" id="{DFBFB653-839A-464F-8AF7-BABABC441B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07154" y="2003632"/>
            <a:ext cx="3444535" cy="463393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760043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679</TotalTime>
  <Words>872</Words>
  <Application>Microsoft Office PowerPoint</Application>
  <PresentationFormat>Widescreen</PresentationFormat>
  <Paragraphs>90</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Cattle verification with YOLO and cross-attention encoder-based pairwise triplet loss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176</cp:revision>
  <dcterms:created xsi:type="dcterms:W3CDTF">2025-10-12T14:15:02Z</dcterms:created>
  <dcterms:modified xsi:type="dcterms:W3CDTF">2025-10-25T04:18:02Z</dcterms:modified>
</cp:coreProperties>
</file>