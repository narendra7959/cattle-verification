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301" r:id="rId3"/>
    <p:sldId id="264" r:id="rId4"/>
    <p:sldId id="259" r:id="rId5"/>
    <p:sldId id="308" r:id="rId6"/>
    <p:sldId id="262" r:id="rId7"/>
    <p:sldId id="300" r:id="rId8"/>
    <p:sldId id="279" r:id="rId9"/>
    <p:sldId id="307" r:id="rId10"/>
    <p:sldId id="304" r:id="rId11"/>
    <p:sldId id="278" r:id="rId12"/>
    <p:sldId id="303" r:id="rId13"/>
    <p:sldId id="268" r:id="rId14"/>
    <p:sldId id="299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7AC2A-03F4-4069-B10A-3B42C8722FE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5C245-66CA-46A4-BDD8-B48AABA9D0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67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28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04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33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5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6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846C-3733-48BB-AA3D-FE4361121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F3251-FB90-4CE0-93BD-384ED3606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AB36-1F3D-4C70-A843-F45127FB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EFCF5-2641-49B9-9CE1-B40A3D62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0AC45-5665-4BF4-AF72-099ACAB9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06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1B46-F509-4EFA-90E5-1590622C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DA8FA-83E2-4854-846F-66E55BAC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D9A6-46FB-44EE-82C5-2C6F8683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7E33B-BC03-444D-880F-59536C1A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65052-DC71-447B-852F-46D73C67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1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A146-4D09-4898-A223-59DF2021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B098F-38A7-41DA-A8E3-DA113A365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60EEB-7BB9-47DE-A984-DA11B0DA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98B6-6B2A-43B9-A8EB-70A1CD80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9D7FB-4F86-4161-A5E6-ECE222AD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52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DED9-B0FE-4469-B751-D55748C2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BE9C8-633E-4A80-80C0-6A302ECA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209AD-50CD-4FC6-B269-396FB616F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560F1-2BAB-494F-9454-D35D109B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C88FE-7B92-40EA-A34B-5A62CEAE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947BF-0737-477C-8FD2-AE3EEB0C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79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23D0-63B8-4258-A5AD-9E432415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D2118-77D5-4A83-A8D8-411BAD0CF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F23DC-7308-4B2A-83E1-43302352A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D628C-5060-4876-B3DC-70E88970C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4FD69-2362-4CF1-92AD-2DA3F8209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5CEF2-3C1B-4CD7-B2B6-5BAC3E87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832CF-7AA8-4BE9-BC47-8650C984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0E1DA3-501D-40DD-A27C-5CE7B7CB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A9F8-B4B8-4381-AC39-DA791FBF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E90CD-9E95-4F2F-97B2-376AEBD8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1F520-C0A7-41D0-8CB1-20C128DBA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B652C-E5C0-40B0-AB16-FE2905D5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45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D1E0C-600B-4D45-BA4F-A573B3E1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2CD93-1C24-4B93-A504-3A0B34B0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521F0-72D9-438B-AA89-06ADF4E7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6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C29A-D053-4B78-B530-DDF68ED6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1253-E9F8-4FDC-9411-E87E68951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686D1-CC2C-472A-86B8-478E84ACB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CBBDF-EA1F-447F-BD87-96DF8A75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8CA5A-F02F-4B7E-B709-C3AD5A84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B7C3-09BB-4819-A0E9-AC2CA030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93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BAF1-16DA-4EAE-90BC-3A89F3E2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C2E90-55F9-42AD-A437-0AB3C14F4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E8334-E119-4812-A0A3-0FAB5F050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2C08F-0909-40D5-B874-B7674D24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40041-7E19-4734-B8E5-81B4F973D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C8E1C-5C48-41D9-90B4-F5C6114A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DD8C-256C-4E22-9513-A0D57F17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D7CD8-44F0-4D26-93FC-67732CA3F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D6587-5AD4-4FFE-8C01-4A5B6AE6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D1F1-68AD-40B2-A723-2367D113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F05E1-CD20-4692-9144-EBF6286B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08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67837-DBC8-4B49-97ED-DDE67FED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BB53-B856-4591-8736-DD670C06F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B355E-B021-4C66-A371-6DFB78CC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DC60E-2511-43B7-A529-10F9089A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712C-B954-4B6B-8F99-EE03ED5D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43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93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986CF2-1728-4AE5-8FE1-5B34305F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D33AD-75DF-4A91-8A55-177E568F5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DCD73-8EBF-4393-8411-2225C56F4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4E16B-4A38-4A41-AF23-313D62776426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8A95A-AA87-47DC-BB80-71B07E16B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8BC67-C4EB-423A-A088-23C531E15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7FB26-FF5A-491A-ACE2-D1E6F406C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jf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fif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f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CVPR.2019.00516" TargetMode="External"/><Relationship Id="rId2" Type="http://schemas.openxmlformats.org/officeDocument/2006/relationships/hyperlink" Target="https://doi.org/10.3390/agronomy11112365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fif"/><Relationship Id="rId4" Type="http://schemas.openxmlformats.org/officeDocument/2006/relationships/hyperlink" Target="https://web.stanford.edu/~jurafsky/slp3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5;p29">
            <a:extLst>
              <a:ext uri="{FF2B5EF4-FFF2-40B4-BE49-F238E27FC236}">
                <a16:creationId xmlns:a16="http://schemas.microsoft.com/office/drawing/2014/main" id="{082C907F-1C4B-45CB-8B7D-D70E9703099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489142" y="1327212"/>
            <a:ext cx="7294485" cy="3655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600" dirty="0"/>
              <a:t>Multi-modal Cattle Verification Using Vision Transformers and Cross-Attention Refinement</a:t>
            </a:r>
            <a:endParaRPr sz="3600" dirty="0">
              <a:solidFill>
                <a:schemeClr val="dk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3134B-E96F-4551-8CCB-F3DEFFAAA369}"/>
              </a:ext>
            </a:extLst>
          </p:cNvPr>
          <p:cNvSpPr/>
          <p:nvPr/>
        </p:nvSpPr>
        <p:spPr>
          <a:xfrm>
            <a:off x="145001" y="4982527"/>
            <a:ext cx="83420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Sai Narendra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/>
              <a:t>Supervised By:</a:t>
            </a:r>
          </a:p>
          <a:p>
            <a:r>
              <a:rPr lang="en-IN" dirty="0"/>
              <a:t>Prof. SVSN Sarma, Asst. Professor, Mathematics &amp; Computer Science, SSSIHL</a:t>
            </a:r>
          </a:p>
          <a:p>
            <a:r>
              <a:rPr lang="en-IN" dirty="0"/>
              <a:t>Dr. Darshan Gera, Associate. Professor, Mathematics &amp; Computer Science, SSSIHL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2514CE-91C4-469B-9053-BF60E8297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49" y="232491"/>
            <a:ext cx="2823098" cy="41013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8D5807-FE3C-48A1-BADE-989FEEA93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9303" y="227879"/>
            <a:ext cx="600652" cy="61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7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7511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67" dirty="0"/>
          </a:p>
        </p:txBody>
      </p:sp>
      <p:sp>
        <p:nvSpPr>
          <p:cNvPr id="6" name="Text 4"/>
          <p:cNvSpPr/>
          <p:nvPr/>
        </p:nvSpPr>
        <p:spPr>
          <a:xfrm>
            <a:off x="392045" y="113531"/>
            <a:ext cx="1109472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latin typeface="+mj-lt"/>
                <a:ea typeface="Calibri" pitchFamily="34" charset="-122"/>
                <a:cs typeface="Calibri" pitchFamily="34" charset="-120"/>
              </a:rPr>
              <a:t>Problem Statement and Introduction</a:t>
            </a:r>
            <a:endParaRPr lang="en-US" sz="28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8272" y="809558"/>
            <a:ext cx="3266614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proposed solution</a:t>
            </a:r>
            <a:endParaRPr lang="en-US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C2C26AB-07B6-45B3-9624-37926497DE21}"/>
              </a:ext>
            </a:extLst>
          </p:cNvPr>
          <p:cNvSpPr/>
          <p:nvPr/>
        </p:nvSpPr>
        <p:spPr>
          <a:xfrm>
            <a:off x="473140" y="1223393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Cattle Verification?</a:t>
            </a:r>
            <a:endParaRPr lang="en-US" sz="1733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FD030FC0-D7CF-46FB-9094-523F03186531}"/>
              </a:ext>
            </a:extLst>
          </p:cNvPr>
          <p:cNvSpPr/>
          <p:nvPr/>
        </p:nvSpPr>
        <p:spPr>
          <a:xfrm>
            <a:off x="548640" y="1650113"/>
            <a:ext cx="4998720" cy="240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Disease traceability &amp; livestock management</a:t>
            </a:r>
            <a:endParaRPr lang="en-US" sz="16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Insurance validation &amp; ownership authentication</a:t>
            </a:r>
            <a:endParaRPr lang="en-US" sz="16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Food supply chain transparency</a:t>
            </a:r>
            <a:endParaRPr lang="en-US" sz="16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Theft prevention</a:t>
            </a: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1:1 matching — does this sample belong to this animal?</a:t>
            </a:r>
            <a:endParaRPr lang="en-US" sz="1600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identification (1:N closed-set)</a:t>
            </a:r>
            <a:endParaRPr lang="en-US" sz="16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6955EBF6-1B3F-4041-A000-53691D01774B}"/>
              </a:ext>
            </a:extLst>
          </p:cNvPr>
          <p:cNvSpPr/>
          <p:nvPr/>
        </p:nvSpPr>
        <p:spPr>
          <a:xfrm>
            <a:off x="548640" y="4248519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Methods</a:t>
            </a:r>
            <a:endParaRPr lang="en-US" sz="1733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D923238-26C6-4528-9978-86F068A19741}"/>
              </a:ext>
            </a:extLst>
          </p:cNvPr>
          <p:cNvSpPr/>
          <p:nvPr/>
        </p:nvSpPr>
        <p:spPr>
          <a:xfrm>
            <a:off x="451102" y="4790896"/>
            <a:ext cx="5644898" cy="1366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533"/>
              </a:spcAft>
              <a:buSzPct val="100000"/>
              <a:buFontTx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Traditional Methods</a:t>
            </a:r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Single-modality: vulnerable to occlusion &amp; pose variation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Naive fusion (concat/averaging) — misses cross-modal cues</a:t>
            </a:r>
            <a:endParaRPr lang="en-US" sz="1600" dirty="0"/>
          </a:p>
          <a:p>
            <a:pPr marL="457189" indent="-457189">
              <a:spcAft>
                <a:spcPts val="533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loss: slow convergence, suboptimal representations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1E23DAD5-5119-428A-A92C-A359408ECDC2}"/>
              </a:ext>
            </a:extLst>
          </p:cNvPr>
          <p:cNvSpPr/>
          <p:nvPr/>
        </p:nvSpPr>
        <p:spPr>
          <a:xfrm>
            <a:off x="6598222" y="1436753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Two-Stage Framework</a:t>
            </a:r>
            <a:endParaRPr lang="en-US" sz="16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2A54BDD-C8DD-4F62-8E41-CB7EE79861B8}"/>
              </a:ext>
            </a:extLst>
          </p:cNvPr>
          <p:cNvSpPr/>
          <p:nvPr/>
        </p:nvSpPr>
        <p:spPr>
          <a:xfrm>
            <a:off x="6598222" y="1847478"/>
            <a:ext cx="5364480" cy="999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4D099614-4FF9-49B0-BDD8-BBBFF313B965}"/>
              </a:ext>
            </a:extLst>
          </p:cNvPr>
          <p:cNvSpPr/>
          <p:nvPr/>
        </p:nvSpPr>
        <p:spPr>
          <a:xfrm>
            <a:off x="6598222" y="1839089"/>
            <a:ext cx="1036320" cy="9997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E5C761EE-C1B3-4EF4-B9A9-AB9D0D9AEB45}"/>
              </a:ext>
            </a:extLst>
          </p:cNvPr>
          <p:cNvSpPr/>
          <p:nvPr/>
        </p:nvSpPr>
        <p:spPr>
          <a:xfrm>
            <a:off x="6598222" y="1847478"/>
            <a:ext cx="10363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6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57889C9F-C006-4EC6-982A-D3901CCBBE4A}"/>
              </a:ext>
            </a:extLst>
          </p:cNvPr>
          <p:cNvSpPr/>
          <p:nvPr/>
        </p:nvSpPr>
        <p:spPr>
          <a:xfrm>
            <a:off x="7732078" y="1945014"/>
            <a:ext cx="4145280" cy="51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ViT-Base/16 backbone learns modality-invariant 512-dim embeddings from face</a:t>
            </a:r>
            <a:endParaRPr lang="en-US" sz="16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CF63A9D7-D433-4015-A21A-47695B1872F5}"/>
              </a:ext>
            </a:extLst>
          </p:cNvPr>
          <p:cNvSpPr/>
          <p:nvPr/>
        </p:nvSpPr>
        <p:spPr>
          <a:xfrm>
            <a:off x="6598222" y="2969142"/>
            <a:ext cx="5364480" cy="999744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CA045364-B2A3-4AF6-BF64-0CE126C7D9E5}"/>
              </a:ext>
            </a:extLst>
          </p:cNvPr>
          <p:cNvSpPr/>
          <p:nvPr/>
        </p:nvSpPr>
        <p:spPr>
          <a:xfrm>
            <a:off x="6598222" y="2960753"/>
            <a:ext cx="1036320" cy="999744"/>
          </a:xfrm>
          <a:prstGeom prst="rect">
            <a:avLst/>
          </a:prstGeom>
          <a:solidFill>
            <a:srgbClr val="2196A8"/>
          </a:solidFill>
          <a:ln w="12700">
            <a:solidFill>
              <a:srgbClr val="2196A8"/>
            </a:solidFill>
            <a:prstDash val="solid"/>
          </a:ln>
        </p:spPr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439CC516-F311-4BCF-B4CA-8FC9B1635809}"/>
              </a:ext>
            </a:extLst>
          </p:cNvPr>
          <p:cNvSpPr/>
          <p:nvPr/>
        </p:nvSpPr>
        <p:spPr>
          <a:xfrm>
            <a:off x="6598222" y="2969142"/>
            <a:ext cx="10363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6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49211EFA-7F4C-4AF9-964C-1A2DAF5B3E9E}"/>
              </a:ext>
            </a:extLst>
          </p:cNvPr>
          <p:cNvSpPr/>
          <p:nvPr/>
        </p:nvSpPr>
        <p:spPr>
          <a:xfrm>
            <a:off x="7725982" y="3072885"/>
            <a:ext cx="4145280" cy="540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Cross-Attention Refinement (CAR) module models bidirectional face↔muzzle dependencies. </a:t>
            </a:r>
            <a:endParaRPr lang="en-US" sz="16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0CCA3242-CF8B-43EB-996A-09F7CA9BD9B1}"/>
              </a:ext>
            </a:extLst>
          </p:cNvPr>
          <p:cNvSpPr/>
          <p:nvPr/>
        </p:nvSpPr>
        <p:spPr>
          <a:xfrm>
            <a:off x="6598222" y="4090806"/>
            <a:ext cx="5364480" cy="999744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8DE5FDD5-6B9A-4395-B329-35DDF1B19C56}"/>
              </a:ext>
            </a:extLst>
          </p:cNvPr>
          <p:cNvSpPr/>
          <p:nvPr/>
        </p:nvSpPr>
        <p:spPr>
          <a:xfrm>
            <a:off x="6598222" y="4090806"/>
            <a:ext cx="1036320" cy="999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7C1BFA94-CCE3-43B7-AF50-883161E83B58}"/>
              </a:ext>
            </a:extLst>
          </p:cNvPr>
          <p:cNvSpPr/>
          <p:nvPr/>
        </p:nvSpPr>
        <p:spPr>
          <a:xfrm>
            <a:off x="6598222" y="4082417"/>
            <a:ext cx="1036320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20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79137BA9-CD89-421D-B0E2-4967FB77A629}"/>
              </a:ext>
            </a:extLst>
          </p:cNvPr>
          <p:cNvSpPr/>
          <p:nvPr/>
        </p:nvSpPr>
        <p:spPr>
          <a:xfrm>
            <a:off x="7725982" y="4390460"/>
            <a:ext cx="4145280" cy="4004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Multi-Similarity Loss with Hard Pair Mining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EA6AA3-D929-431E-8C4E-6B1C5CACD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749" y="269823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4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04800" y="744539"/>
            <a:ext cx="3718560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817691"/>
            <a:ext cx="353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Cattle-1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304800" y="1293179"/>
            <a:ext cx="3718560" cy="2206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26720" y="1378523"/>
            <a:ext cx="34747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Shojaeipour et al., 2021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26720" y="171989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Animals: 300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426720" y="208565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2,898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230624" y="744539"/>
            <a:ext cx="37185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8160" y="817691"/>
            <a:ext cx="353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Cattle-2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4230624" y="1293179"/>
            <a:ext cx="3718560" cy="2206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52544" y="1378523"/>
            <a:ext cx="34747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et al., 2024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52544" y="171989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Animals: 459 (456 used)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4352544" y="208565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2,763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8156448" y="744539"/>
            <a:ext cx="3718560" cy="548640"/>
          </a:xfrm>
          <a:prstGeom prst="rect">
            <a:avLst/>
          </a:prstGeom>
          <a:solidFill>
            <a:srgbClr val="2C5F5F"/>
          </a:solidFill>
          <a:ln w="12700">
            <a:solidFill>
              <a:srgbClr val="2C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3984" y="817691"/>
            <a:ext cx="3535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Cattle-3 (In-house)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8156448" y="1293179"/>
            <a:ext cx="3718560" cy="22067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8278368" y="1378523"/>
            <a:ext cx="34747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78368" y="171989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Animals: 88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8278368" y="2085659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597</a:t>
            </a:r>
            <a:endParaRPr lang="en-US" sz="1467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433ADA-4130-45A1-A6BE-1B852A639196}"/>
              </a:ext>
            </a:extLst>
          </p:cNvPr>
          <p:cNvSpPr txBox="1"/>
          <p:nvPr/>
        </p:nvSpPr>
        <p:spPr>
          <a:xfrm>
            <a:off x="365760" y="140658"/>
            <a:ext cx="43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Datasets Used</a:t>
            </a:r>
            <a:endParaRPr lang="en-IN" sz="2800" dirty="0">
              <a:latin typeface="+mj-lt"/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9CA95B3A-8BBE-49B1-9F62-A7B52D6B1D82}"/>
              </a:ext>
            </a:extLst>
          </p:cNvPr>
          <p:cNvSpPr/>
          <p:nvPr/>
        </p:nvSpPr>
        <p:spPr>
          <a:xfrm>
            <a:off x="426720" y="2503990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Muzzle: 2,804</a:t>
            </a:r>
            <a:endParaRPr lang="en-US" sz="1467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19EC3946-6E00-4E63-9DE0-C97D478CA4CC}"/>
              </a:ext>
            </a:extLst>
          </p:cNvPr>
          <p:cNvSpPr/>
          <p:nvPr/>
        </p:nvSpPr>
        <p:spPr>
          <a:xfrm>
            <a:off x="4389120" y="2503990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Muzzle: 2,545</a:t>
            </a:r>
            <a:endParaRPr lang="en-US" sz="1467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5D1B5794-BEB4-47BA-A59F-FA88D131817A}"/>
              </a:ext>
            </a:extLst>
          </p:cNvPr>
          <p:cNvSpPr/>
          <p:nvPr/>
        </p:nvSpPr>
        <p:spPr>
          <a:xfrm>
            <a:off x="8278368" y="2503990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Muzzle: 950</a:t>
            </a:r>
            <a:endParaRPr lang="en-US" sz="1467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32C5FBE1-4D84-49B0-BF84-E95481E15EE8}"/>
              </a:ext>
            </a:extLst>
          </p:cNvPr>
          <p:cNvSpPr/>
          <p:nvPr/>
        </p:nvSpPr>
        <p:spPr>
          <a:xfrm>
            <a:off x="402336" y="2934960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5,702</a:t>
            </a:r>
            <a:endParaRPr lang="en-US" sz="1467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C879EA16-30BD-44B6-8664-CB533FE19630}"/>
              </a:ext>
            </a:extLst>
          </p:cNvPr>
          <p:cNvSpPr/>
          <p:nvPr/>
        </p:nvSpPr>
        <p:spPr>
          <a:xfrm>
            <a:off x="4352544" y="2906326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5,308</a:t>
            </a:r>
            <a:endParaRPr lang="en-US" sz="1467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92F81EF6-1736-466D-A8AC-20666FDCF21A}"/>
              </a:ext>
            </a:extLst>
          </p:cNvPr>
          <p:cNvSpPr/>
          <p:nvPr/>
        </p:nvSpPr>
        <p:spPr>
          <a:xfrm>
            <a:off x="8314944" y="2909681"/>
            <a:ext cx="347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1,012</a:t>
            </a:r>
            <a:endParaRPr lang="en-US" sz="1467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A5C0221-091C-4F9A-9591-4C2CF70F4C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0" t="746" r="739" b="1328"/>
          <a:stretch/>
        </p:blipFill>
        <p:spPr>
          <a:xfrm>
            <a:off x="322812" y="3719051"/>
            <a:ext cx="3590820" cy="26676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2A3FB46-4A00-4E57-B8A6-4683DF2CD4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0" t="332" r="575" b="1149"/>
          <a:stretch/>
        </p:blipFill>
        <p:spPr>
          <a:xfrm>
            <a:off x="4328160" y="3719051"/>
            <a:ext cx="3590821" cy="26777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8F102BF-B3D0-4EF4-AF1F-09CA7A46BD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49" t="332" r="574" b="1298"/>
          <a:stretch/>
        </p:blipFill>
        <p:spPr>
          <a:xfrm>
            <a:off x="8278368" y="3738312"/>
            <a:ext cx="3590820" cy="26707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894A0F0-9A2B-4A29-8E4A-0FBFD8B7F3A1}"/>
              </a:ext>
            </a:extLst>
          </p:cNvPr>
          <p:cNvSpPr txBox="1"/>
          <p:nvPr/>
        </p:nvSpPr>
        <p:spPr>
          <a:xfrm>
            <a:off x="365760" y="6495270"/>
            <a:ext cx="32045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Fig. 1: Cattle-1 – Shojaeipour et al., 2021, agronomy</a:t>
            </a:r>
            <a:endParaRPr lang="en-IN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95C3CD-BE05-470C-BF7B-4AC0D28C565D}"/>
              </a:ext>
            </a:extLst>
          </p:cNvPr>
          <p:cNvSpPr txBox="1"/>
          <p:nvPr/>
        </p:nvSpPr>
        <p:spPr>
          <a:xfrm>
            <a:off x="4520717" y="6485162"/>
            <a:ext cx="3428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Fig. 2: Cattle-2 – Ahmed et al., 2024, Data in Brief</a:t>
            </a:r>
            <a:endParaRPr lang="en-IN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BAD40E-D6FF-45B6-9115-348BA6ED6EEA}"/>
              </a:ext>
            </a:extLst>
          </p:cNvPr>
          <p:cNvSpPr txBox="1"/>
          <p:nvPr/>
        </p:nvSpPr>
        <p:spPr>
          <a:xfrm>
            <a:off x="8811234" y="6485162"/>
            <a:ext cx="2525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Fig. 3: Cattle-3 – In-house dataset</a:t>
            </a:r>
            <a:endParaRPr lang="en-IN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1A24087-E33A-4CED-9DB7-CD907C6A4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982" y="125534"/>
            <a:ext cx="483206" cy="4940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648456-969B-4A2A-B6F9-926AECC9441D}"/>
              </a:ext>
            </a:extLst>
          </p:cNvPr>
          <p:cNvSpPr txBox="1"/>
          <p:nvPr/>
        </p:nvSpPr>
        <p:spPr>
          <a:xfrm>
            <a:off x="284086" y="177552"/>
            <a:ext cx="5211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METHODOLOGY:</a:t>
            </a:r>
            <a:endParaRPr lang="en-IN" sz="2800" dirty="0"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68A287-98DB-474D-AB07-93E9B1F53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489" y="1230869"/>
            <a:ext cx="9432144" cy="4723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6CEF11-0A3F-4F7E-B372-848D7DA9D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749" y="269823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17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26720" y="97536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365760" y="975360"/>
            <a:ext cx="5486400" cy="426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20" y="1036320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2135" y="1874786"/>
            <a:ext cx="5547360" cy="3946894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FDBA2D-8665-493E-B6EA-C7A06E82F3E7}"/>
              </a:ext>
            </a:extLst>
          </p:cNvPr>
          <p:cNvSpPr txBox="1"/>
          <p:nvPr/>
        </p:nvSpPr>
        <p:spPr>
          <a:xfrm>
            <a:off x="426720" y="219897"/>
            <a:ext cx="862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Calibri" pitchFamily="34" charset="-122"/>
                <a:cs typeface="Calibri" pitchFamily="34" charset="-120"/>
              </a:rPr>
              <a:t>Stage 1 — Global Feature Extraction via ViT</a:t>
            </a:r>
            <a:endParaRPr lang="en-US" sz="2800" dirty="0">
              <a:latin typeface="+mj-lt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29D690CE-F9D2-4F87-9379-C924FEAB4C16}"/>
              </a:ext>
            </a:extLst>
          </p:cNvPr>
          <p:cNvSpPr/>
          <p:nvPr/>
        </p:nvSpPr>
        <p:spPr>
          <a:xfrm>
            <a:off x="548640" y="1889760"/>
            <a:ext cx="475488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833186E-BE09-472E-A524-02240FC074D0}"/>
              </a:ext>
            </a:extLst>
          </p:cNvPr>
          <p:cNvSpPr/>
          <p:nvPr/>
        </p:nvSpPr>
        <p:spPr>
          <a:xfrm>
            <a:off x="548640" y="18897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(224×224×3)</a:t>
            </a:r>
            <a:endParaRPr lang="en-US" sz="1333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6A5B793-91ED-42A8-96A9-6C653FA2E9C4}"/>
              </a:ext>
            </a:extLst>
          </p:cNvPr>
          <p:cNvSpPr/>
          <p:nvPr/>
        </p:nvSpPr>
        <p:spPr>
          <a:xfrm>
            <a:off x="548640" y="256032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B6CA8"/>
                </a:solidFill>
              </a:rPr>
              <a:t>▼</a:t>
            </a:r>
            <a:endParaRPr lang="en-US" sz="1467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1F2A2007-8F35-467C-9258-EB1DBF0C43D3}"/>
              </a:ext>
            </a:extLst>
          </p:cNvPr>
          <p:cNvSpPr/>
          <p:nvPr/>
        </p:nvSpPr>
        <p:spPr>
          <a:xfrm>
            <a:off x="548640" y="2767584"/>
            <a:ext cx="4754880" cy="7315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C49876E5-3B9B-4DC8-A960-7F0D0EA4E7B6}"/>
              </a:ext>
            </a:extLst>
          </p:cNvPr>
          <p:cNvSpPr/>
          <p:nvPr/>
        </p:nvSpPr>
        <p:spPr>
          <a:xfrm>
            <a:off x="548640" y="2767584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</a:t>
            </a:r>
            <a:endParaRPr lang="en-US" sz="1333" dirty="0"/>
          </a:p>
          <a:p>
            <a:pPr algn="ctr"/>
            <a:r>
              <a:rPr lang="en-US" sz="133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split into 196 non-overlapping 16×16 patches</a:t>
            </a:r>
            <a:endParaRPr lang="en-US" sz="1330" b="1" dirty="0">
              <a:solidFill>
                <a:schemeClr val="bg1"/>
              </a:solidFill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BF8E6B6D-71FE-4E9C-AAE4-6332150CEA6B}"/>
              </a:ext>
            </a:extLst>
          </p:cNvPr>
          <p:cNvSpPr/>
          <p:nvPr/>
        </p:nvSpPr>
        <p:spPr>
          <a:xfrm>
            <a:off x="548640" y="343814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B6CA8"/>
                </a:solidFill>
              </a:rPr>
              <a:t>▼</a:t>
            </a:r>
            <a:endParaRPr lang="en-US" sz="1467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4B4680A-93EB-47EA-A0B6-2DCD01ECE2BE}"/>
              </a:ext>
            </a:extLst>
          </p:cNvPr>
          <p:cNvSpPr/>
          <p:nvPr/>
        </p:nvSpPr>
        <p:spPr>
          <a:xfrm>
            <a:off x="548640" y="3645408"/>
            <a:ext cx="4754880" cy="731520"/>
          </a:xfrm>
          <a:prstGeom prst="rect">
            <a:avLst/>
          </a:prstGeom>
          <a:solidFill>
            <a:srgbClr val="2196A8"/>
          </a:solidFill>
          <a:ln w="12700">
            <a:solidFill>
              <a:srgbClr val="2196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FF8E7895-B016-40D6-9169-ADE238603F5E}"/>
              </a:ext>
            </a:extLst>
          </p:cNvPr>
          <p:cNvSpPr/>
          <p:nvPr/>
        </p:nvSpPr>
        <p:spPr>
          <a:xfrm>
            <a:off x="548640" y="36454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L=12 layers, H=12 heads</a:t>
            </a:r>
            <a:endParaRPr lang="en-US" sz="1333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76BF733F-7B13-4CAF-A70B-0A51EC2E6EC3}"/>
              </a:ext>
            </a:extLst>
          </p:cNvPr>
          <p:cNvSpPr/>
          <p:nvPr/>
        </p:nvSpPr>
        <p:spPr>
          <a:xfrm>
            <a:off x="548640" y="43159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B6CA8"/>
                </a:solidFill>
              </a:rPr>
              <a:t>▼</a:t>
            </a:r>
            <a:endParaRPr lang="en-US" sz="1467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25BD2779-90F4-4CD7-9674-EEEF9DBD4BDE}"/>
              </a:ext>
            </a:extLst>
          </p:cNvPr>
          <p:cNvSpPr/>
          <p:nvPr/>
        </p:nvSpPr>
        <p:spPr>
          <a:xfrm>
            <a:off x="548640" y="4523232"/>
            <a:ext cx="475488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4BFE9406-3BA7-4886-9F95-1043415E9534}"/>
              </a:ext>
            </a:extLst>
          </p:cNvPr>
          <p:cNvSpPr/>
          <p:nvPr/>
        </p:nvSpPr>
        <p:spPr>
          <a:xfrm>
            <a:off x="548640" y="45232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CLS ] Token → Projection W_proj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512 dim</a:t>
            </a:r>
            <a:endParaRPr lang="en-US" sz="1333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E972E8EB-F183-469B-B9FF-F73565D0DB17}"/>
              </a:ext>
            </a:extLst>
          </p:cNvPr>
          <p:cNvSpPr/>
          <p:nvPr/>
        </p:nvSpPr>
        <p:spPr>
          <a:xfrm>
            <a:off x="548640" y="51937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B6CA8"/>
                </a:solidFill>
              </a:rPr>
              <a:t>▼</a:t>
            </a:r>
            <a:endParaRPr lang="en-US" sz="1467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CDDC4F55-C64A-4F17-B983-019F0C50DE67}"/>
              </a:ext>
            </a:extLst>
          </p:cNvPr>
          <p:cNvSpPr/>
          <p:nvPr/>
        </p:nvSpPr>
        <p:spPr>
          <a:xfrm>
            <a:off x="548640" y="5401056"/>
            <a:ext cx="4754880" cy="731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D5527682-EE90-4479-8B93-C56EEAA2799A}"/>
              </a:ext>
            </a:extLst>
          </p:cNvPr>
          <p:cNvSpPr/>
          <p:nvPr/>
        </p:nvSpPr>
        <p:spPr>
          <a:xfrm>
            <a:off x="548640" y="5401056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L₂-Normalize → e ∈ ℝ⁵¹²</a:t>
            </a:r>
            <a:endParaRPr lang="en-US" sz="1333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2DE7D-839E-4607-8E74-6FC4685B4120}"/>
              </a:ext>
            </a:extLst>
          </p:cNvPr>
          <p:cNvSpPr/>
          <p:nvPr/>
        </p:nvSpPr>
        <p:spPr>
          <a:xfrm>
            <a:off x="7510508" y="5991772"/>
            <a:ext cx="44631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Source: Jurafsky &amp; Martin, </a:t>
            </a:r>
            <a:r>
              <a:rPr lang="en-GB" i="1" dirty="0"/>
              <a:t>Speech and Language Processing</a:t>
            </a:r>
            <a:r>
              <a:rPr lang="en-GB" dirty="0"/>
              <a:t>, 3rd ed.</a:t>
            </a:r>
            <a:endParaRPr lang="en-IN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487A548-B201-4531-8CB4-59AF53DB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497" y="5021357"/>
            <a:ext cx="3105583" cy="466790"/>
          </a:xfrm>
          <a:prstGeom prst="rect">
            <a:avLst/>
          </a:prstGeom>
        </p:spPr>
      </p:pic>
      <p:sp>
        <p:nvSpPr>
          <p:cNvPr id="48" name="Text 20">
            <a:extLst>
              <a:ext uri="{FF2B5EF4-FFF2-40B4-BE49-F238E27FC236}">
                <a16:creationId xmlns:a16="http://schemas.microsoft.com/office/drawing/2014/main" id="{D45CA1E4-3B5B-4B46-8121-084D2295DB67}"/>
              </a:ext>
            </a:extLst>
          </p:cNvPr>
          <p:cNvSpPr/>
          <p:nvPr/>
        </p:nvSpPr>
        <p:spPr>
          <a:xfrm>
            <a:off x="6400800" y="4446205"/>
            <a:ext cx="53644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embedding:</a:t>
            </a:r>
            <a:endParaRPr lang="en-US" sz="1333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ECD029-76BC-45CA-A85B-21B838127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656" y="2163455"/>
            <a:ext cx="4132306" cy="21126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D5651C-DF49-4B30-A1E5-3AC4CCF52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749" y="269823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0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898150"/>
            <a:ext cx="5486400" cy="426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20" y="1959110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Multi-Similarity Loss?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6720" y="2695999"/>
            <a:ext cx="243840" cy="243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3440" y="2616848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 only considers ONE positive and ONE negative per anchor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720" y="3463312"/>
            <a:ext cx="243840" cy="243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98" y="3414189"/>
            <a:ext cx="4998720" cy="338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Loss uses ALL hard positives &amp; hard negatives simultaneously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" y="4171902"/>
            <a:ext cx="243840" cy="243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98" y="4115336"/>
            <a:ext cx="4998720" cy="3386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pair-wise weights → richer gradient signals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6720" y="4813380"/>
            <a:ext cx="243840" cy="243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98" y="4784424"/>
            <a:ext cx="499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 formulation prevents gradient vanishing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6720" y="5412913"/>
            <a:ext cx="243840" cy="243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440" y="5344876"/>
            <a:ext cx="4998720" cy="3477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 and better embedding quality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975360"/>
            <a:ext cx="5608320" cy="5608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6339840" y="1097280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Pair Mining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8880" y="1438245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3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Positives — positives where a negative is closer: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8880" y="2393277"/>
            <a:ext cx="5486400" cy="498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3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Negatives — negatives closer than some positive: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217920" y="3560064"/>
            <a:ext cx="560832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9840" y="3694176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Loss Formulation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5692661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Stage 2: loss computed jointly over face, muzzle &amp; fused embeddings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C179E5-1818-48B6-90E8-35C679B33F37}"/>
              </a:ext>
            </a:extLst>
          </p:cNvPr>
          <p:cNvSpPr txBox="1"/>
          <p:nvPr/>
        </p:nvSpPr>
        <p:spPr>
          <a:xfrm>
            <a:off x="271562" y="58872"/>
            <a:ext cx="8628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Multi-Similarity Loss with Hard Pair Mining</a:t>
            </a:r>
            <a:endParaRPr lang="en-IN" sz="2800" dirty="0">
              <a:latin typeface="+mj-lt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A4419F-7445-472C-A255-9729BFE91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590" y="4246024"/>
            <a:ext cx="5233810" cy="60639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3A63543-1693-4A58-A12D-7E2F7B2D6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022" y="1850025"/>
            <a:ext cx="2841374" cy="50399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54B19A5-F534-4424-8A59-832D907FB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4921" y="2954403"/>
            <a:ext cx="2844820" cy="5159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99E860-3265-4976-BE90-D6EED0F8F2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590" y="5003747"/>
            <a:ext cx="5102950" cy="354371"/>
          </a:xfrm>
          <a:prstGeom prst="rect">
            <a:avLst/>
          </a:prstGeom>
        </p:spPr>
      </p:pic>
      <p:sp>
        <p:nvSpPr>
          <p:cNvPr id="34" name="Shape 11">
            <a:extLst>
              <a:ext uri="{FF2B5EF4-FFF2-40B4-BE49-F238E27FC236}">
                <a16:creationId xmlns:a16="http://schemas.microsoft.com/office/drawing/2014/main" id="{A49FAA70-D1B4-418E-83FA-28CBD5F444D9}"/>
              </a:ext>
            </a:extLst>
          </p:cNvPr>
          <p:cNvSpPr/>
          <p:nvPr/>
        </p:nvSpPr>
        <p:spPr>
          <a:xfrm>
            <a:off x="338496" y="5962322"/>
            <a:ext cx="5574624" cy="719674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41085777-1372-468D-B255-54D5257BF420}"/>
              </a:ext>
            </a:extLst>
          </p:cNvPr>
          <p:cNvSpPr/>
          <p:nvPr/>
        </p:nvSpPr>
        <p:spPr>
          <a:xfrm>
            <a:off x="535008" y="6256622"/>
            <a:ext cx="5181600" cy="40684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pair weights based on 3 similarity relations → non-zero gradient for ALL hard pairs</a:t>
            </a:r>
            <a:endParaRPr lang="en-US" sz="12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E614FFA-D31A-44DE-9988-466330DDF412}"/>
              </a:ext>
            </a:extLst>
          </p:cNvPr>
          <p:cNvSpPr/>
          <p:nvPr/>
        </p:nvSpPr>
        <p:spPr>
          <a:xfrm>
            <a:off x="721172" y="5997604"/>
            <a:ext cx="4541101" cy="26977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Multi-Similarity Loss</a:t>
            </a:r>
            <a:endParaRPr lang="en-US" sz="12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66E0CC55-87FB-496E-9F5E-CF56C9059B34}"/>
              </a:ext>
            </a:extLst>
          </p:cNvPr>
          <p:cNvSpPr/>
          <p:nvPr/>
        </p:nvSpPr>
        <p:spPr>
          <a:xfrm>
            <a:off x="271563" y="901759"/>
            <a:ext cx="5472124" cy="659714"/>
          </a:xfrm>
          <a:prstGeom prst="rect">
            <a:avLst/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3DBB53D2-7B4E-4A17-9592-CA6D23E045F9}"/>
              </a:ext>
            </a:extLst>
          </p:cNvPr>
          <p:cNvSpPr/>
          <p:nvPr/>
        </p:nvSpPr>
        <p:spPr>
          <a:xfrm>
            <a:off x="682589" y="944555"/>
            <a:ext cx="4940594" cy="25731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Triplet Loss</a:t>
            </a:r>
            <a:endParaRPr lang="en-US" sz="14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01C5E460-91D1-42EE-9B4B-3333E9F64741}"/>
              </a:ext>
            </a:extLst>
          </p:cNvPr>
          <p:cNvSpPr/>
          <p:nvPr/>
        </p:nvSpPr>
        <p:spPr>
          <a:xfrm>
            <a:off x="670560" y="1148645"/>
            <a:ext cx="4940594" cy="44111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6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to all triplets → slow convergence, gradient vanishing, suboptimal at scale</a:t>
            </a:r>
            <a:endParaRPr lang="en-US" sz="12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3523227-A9E7-4747-AC97-5486B83A8A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749" y="269823"/>
            <a:ext cx="483206" cy="494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4">
            <a:extLst>
              <a:ext uri="{FF2B5EF4-FFF2-40B4-BE49-F238E27FC236}">
                <a16:creationId xmlns:a16="http://schemas.microsoft.com/office/drawing/2014/main" id="{2B7D765D-1F21-4652-950D-A3E2CDBDB01F}"/>
              </a:ext>
            </a:extLst>
          </p:cNvPr>
          <p:cNvSpPr/>
          <p:nvPr/>
        </p:nvSpPr>
        <p:spPr>
          <a:xfrm>
            <a:off x="6403876" y="1825221"/>
            <a:ext cx="5425440" cy="4820873"/>
          </a:xfrm>
          <a:prstGeom prst="rect">
            <a:avLst/>
          </a:prstGeom>
          <a:solidFill>
            <a:schemeClr val="bg1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07264" y="30256"/>
            <a:ext cx="1109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latin typeface="+mj-lt"/>
                <a:ea typeface="Calibri" pitchFamily="34" charset="-122"/>
                <a:cs typeface="Calibri" pitchFamily="34" charset="-120"/>
              </a:rPr>
              <a:t>Stage 2: Cross-Attention Refinement (CAR)</a:t>
            </a:r>
            <a:endParaRPr lang="en-US" sz="28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1214" y="683846"/>
            <a:ext cx="5502619" cy="5945278"/>
          </a:xfrm>
          <a:prstGeom prst="rect">
            <a:avLst/>
          </a:prstGeom>
          <a:solidFill>
            <a:schemeClr val="tx1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7913" y="2451864"/>
            <a:ext cx="5089857" cy="412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f ∈ ℝ⁵¹², m ∈ ℝ⁵¹² from frozen backbone</a:t>
            </a:r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0326" y="3106812"/>
            <a:ext cx="5089857" cy="707221"/>
          </a:xfrm>
          <a:prstGeom prst="rect">
            <a:avLst/>
          </a:prstGeom>
          <a:solidFill>
            <a:srgbClr val="0A3050"/>
          </a:solidFill>
          <a:ln w="63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95670" y="3179964"/>
            <a:ext cx="4914344" cy="294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CAE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f→m = MHA(Q=f, K=m, V=m, H=8)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5670" y="3509148"/>
            <a:ext cx="4914344" cy="294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CAE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m→f = MHA(Q=m, K=f, V=f,  H=8)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0326" y="3935868"/>
            <a:ext cx="5089857" cy="530416"/>
          </a:xfrm>
          <a:prstGeom prst="rect">
            <a:avLst/>
          </a:prstGeom>
          <a:solidFill>
            <a:srgbClr val="0A3050"/>
          </a:solidFill>
          <a:ln w="635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70" y="3996828"/>
            <a:ext cx="4914344" cy="38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f_fused = (f→m + m→f) /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7913" y="4546370"/>
            <a:ext cx="5114441" cy="936075"/>
          </a:xfrm>
          <a:prstGeom prst="rect">
            <a:avLst/>
          </a:prstGeom>
          <a:solidFill>
            <a:srgbClr val="0A3050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8196" y="2052507"/>
            <a:ext cx="49987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 in CAR</a:t>
            </a:r>
            <a:endParaRPr lang="en-US" sz="1733" dirty="0"/>
          </a:p>
        </p:txBody>
      </p:sp>
      <p:sp>
        <p:nvSpPr>
          <p:cNvPr id="18" name="Shape 16"/>
          <p:cNvSpPr/>
          <p:nvPr/>
        </p:nvSpPr>
        <p:spPr>
          <a:xfrm>
            <a:off x="6922036" y="2687274"/>
            <a:ext cx="1828800" cy="5120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36" y="26917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482356" y="2687274"/>
            <a:ext cx="1828800" cy="5120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56" y="26917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Muzzle m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933716" y="3199338"/>
            <a:ext cx="3657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67" dirty="0"/>
          </a:p>
        </p:txBody>
      </p:sp>
      <p:sp>
        <p:nvSpPr>
          <p:cNvPr id="23" name="Shape 21"/>
          <p:cNvSpPr/>
          <p:nvPr/>
        </p:nvSpPr>
        <p:spPr>
          <a:xfrm>
            <a:off x="6922036" y="3479754"/>
            <a:ext cx="1828800" cy="512064"/>
          </a:xfrm>
          <a:prstGeom prst="rect">
            <a:avLst/>
          </a:prstGeom>
          <a:solidFill>
            <a:srgbClr val="0A3560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36" y="348422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f→m Attention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82356" y="3484228"/>
            <a:ext cx="1828800" cy="512064"/>
          </a:xfrm>
          <a:prstGeom prst="rect">
            <a:avLst/>
          </a:prstGeom>
          <a:solidFill>
            <a:srgbClr val="0A3560"/>
          </a:solidFill>
          <a:ln w="12700">
            <a:solidFill>
              <a:srgbClr val="0A3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356" y="347975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m→f Attention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33716" y="3991818"/>
            <a:ext cx="3657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67" dirty="0"/>
          </a:p>
        </p:txBody>
      </p:sp>
      <p:sp>
        <p:nvSpPr>
          <p:cNvPr id="28" name="Shape 26"/>
          <p:cNvSpPr/>
          <p:nvPr/>
        </p:nvSpPr>
        <p:spPr>
          <a:xfrm>
            <a:off x="8080276" y="4276708"/>
            <a:ext cx="2072640" cy="5120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80276" y="4272234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Fusion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933716" y="4784298"/>
            <a:ext cx="3657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67" dirty="0"/>
          </a:p>
        </p:txBody>
      </p:sp>
      <p:sp>
        <p:nvSpPr>
          <p:cNvPr id="31" name="Shape 29"/>
          <p:cNvSpPr/>
          <p:nvPr/>
        </p:nvSpPr>
        <p:spPr>
          <a:xfrm>
            <a:off x="8080276" y="5125674"/>
            <a:ext cx="2072640" cy="512064"/>
          </a:xfrm>
          <a:prstGeom prst="rect">
            <a:avLst/>
          </a:prstGeom>
          <a:solidFill>
            <a:srgbClr val="0D4060"/>
          </a:solidFill>
          <a:ln w="12700">
            <a:solidFill>
              <a:srgbClr val="0D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0276" y="5130148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+ LayerNorm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33716" y="5637738"/>
            <a:ext cx="3657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3CA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67" dirty="0"/>
          </a:p>
        </p:txBody>
      </p:sp>
      <p:sp>
        <p:nvSpPr>
          <p:cNvPr id="34" name="Shape 32"/>
          <p:cNvSpPr/>
          <p:nvPr/>
        </p:nvSpPr>
        <p:spPr>
          <a:xfrm>
            <a:off x="8080276" y="5861668"/>
            <a:ext cx="2072640" cy="512064"/>
          </a:xfrm>
          <a:prstGeom prst="rect">
            <a:avLst/>
          </a:prstGeom>
          <a:solidFill>
            <a:srgbClr val="3CAEA3"/>
          </a:solidFill>
          <a:ln w="12700">
            <a:solidFill>
              <a:srgbClr val="3CAE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0276" y="5857194"/>
            <a:ext cx="2072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e_fused ∈ ℝ⁵¹²</a:t>
            </a:r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C32A4A4F-BA10-4D6B-AC85-E0091EAA1BF7}"/>
              </a:ext>
            </a:extLst>
          </p:cNvPr>
          <p:cNvSpPr/>
          <p:nvPr/>
        </p:nvSpPr>
        <p:spPr>
          <a:xfrm>
            <a:off x="517461" y="800334"/>
            <a:ext cx="411480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C7BC2A0A-C907-4EBA-8D94-9CCA733DEF88}"/>
              </a:ext>
            </a:extLst>
          </p:cNvPr>
          <p:cNvSpPr/>
          <p:nvPr/>
        </p:nvSpPr>
        <p:spPr>
          <a:xfrm>
            <a:off x="348637" y="1271881"/>
            <a:ext cx="5137498" cy="101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creates a shared embedding space but does NOT model the interaction between face and muzzle of the same animal.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module explicitly captures bidirectional dependencies — what does the face tell us about the muzzle, and vice versa?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EDAACC-BFDE-4424-9519-BC81807998C9}"/>
              </a:ext>
            </a:extLst>
          </p:cNvPr>
          <p:cNvSpPr/>
          <p:nvPr/>
        </p:nvSpPr>
        <p:spPr>
          <a:xfrm>
            <a:off x="517461" y="790404"/>
            <a:ext cx="2267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Cross-Attention?</a:t>
            </a:r>
            <a:endParaRPr lang="en-US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685552FA-173C-4202-B373-591F3953ACF9}"/>
              </a:ext>
            </a:extLst>
          </p:cNvPr>
          <p:cNvSpPr/>
          <p:nvPr/>
        </p:nvSpPr>
        <p:spPr>
          <a:xfrm>
            <a:off x="6403876" y="829952"/>
            <a:ext cx="5425439" cy="7889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16401745-36F6-4B31-99DF-B957B4491585}"/>
              </a:ext>
            </a:extLst>
          </p:cNvPr>
          <p:cNvSpPr/>
          <p:nvPr/>
        </p:nvSpPr>
        <p:spPr>
          <a:xfrm>
            <a:off x="6395139" y="874520"/>
            <a:ext cx="5304874" cy="67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Backbone FROZEN in Stage 2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globally discriminative Stage-1 features while CAR learns cross-modal refinement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2B6CF-E87C-4566-8B36-1BFB9F5D3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7" y="4696374"/>
            <a:ext cx="5003288" cy="6235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2B5A835-4397-4387-A786-47C31B66C5ED}"/>
              </a:ext>
            </a:extLst>
          </p:cNvPr>
          <p:cNvSpPr/>
          <p:nvPr/>
        </p:nvSpPr>
        <p:spPr>
          <a:xfrm>
            <a:off x="448502" y="5678079"/>
            <a:ext cx="51144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The threshold τ∗ is the Equal Error Rate (EER) point on the validation set, where FAR(τ) = FRR(τ).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D6442CA-15D3-4986-A32A-98521C4D1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13" y="129494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18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B9CA7-E40B-49F7-809B-E6ABFC73DAB0}"/>
              </a:ext>
            </a:extLst>
          </p:cNvPr>
          <p:cNvSpPr txBox="1"/>
          <p:nvPr/>
        </p:nvSpPr>
        <p:spPr>
          <a:xfrm>
            <a:off x="268448" y="268448"/>
            <a:ext cx="2281805" cy="4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7E1687C-AEB4-45CC-AE0D-4F43699FE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915107"/>
              </p:ext>
            </p:extLst>
          </p:nvPr>
        </p:nvGraphicFramePr>
        <p:xfrm>
          <a:off x="268448" y="791668"/>
          <a:ext cx="11199625" cy="4039420"/>
        </p:xfrm>
        <a:graphic>
          <a:graphicData uri="http://schemas.openxmlformats.org/drawingml/2006/table">
            <a:tbl>
              <a:tblPr/>
              <a:tblGrid>
                <a:gridCol w="216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5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9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9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89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10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Stage-1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Stage-2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Stage-1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Cattle-2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Stage-2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Cattle-2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Stage-1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Stage-2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D1B2A"/>
                          </a:solidFill>
                        </a:rPr>
                        <a:t>Accuracy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95.16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97.13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97.71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98.67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92.46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95.21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Precision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95.17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97.11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97.71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98.69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92.46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95.38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1332"/>
                  </a:ext>
                </a:extLst>
              </a:tr>
              <a:tr h="673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Recall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95.14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97.11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97.71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98.66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92.46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/>
                        <a:t>95.02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357567"/>
                  </a:ext>
                </a:extLst>
              </a:tr>
              <a:tr h="673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D1B2A"/>
                          </a:solidFill>
                        </a:rPr>
                        <a:t>F1 Score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95.16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97.14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97.71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98.67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92.46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95.20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664629"/>
                  </a:ext>
                </a:extLst>
              </a:tr>
              <a:tr h="6736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D1B2A"/>
                          </a:solidFill>
                        </a:rPr>
                        <a:t>AUC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98.96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99.70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99.78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99.87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A7E8C"/>
                          </a:solidFill>
                        </a:rPr>
                        <a:t>96.54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</a:rPr>
                        <a:t>98.93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5869C9-F96A-41A1-936F-2FF5B7196CC3}"/>
              </a:ext>
            </a:extLst>
          </p:cNvPr>
          <p:cNvSpPr txBox="1"/>
          <p:nvPr/>
        </p:nvSpPr>
        <p:spPr>
          <a:xfrm>
            <a:off x="360726" y="86344"/>
            <a:ext cx="462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Verification Results</a:t>
            </a:r>
            <a:endParaRPr lang="en-IN" sz="28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F8EB7-F331-4E7A-B4D1-4E6BCC5C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13" y="129494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44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1">
            <a:extLst>
              <a:ext uri="{FF2B5EF4-FFF2-40B4-BE49-F238E27FC236}">
                <a16:creationId xmlns:a16="http://schemas.microsoft.com/office/drawing/2014/main" id="{7CB66292-5FC6-4E3E-9767-39CD7C54E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216267"/>
              </p:ext>
            </p:extLst>
          </p:nvPr>
        </p:nvGraphicFramePr>
        <p:xfrm>
          <a:off x="1148177" y="670571"/>
          <a:ext cx="9573089" cy="3675360"/>
        </p:xfrm>
        <a:graphic>
          <a:graphicData uri="http://schemas.openxmlformats.org/drawingml/2006/table">
            <a:tbl>
              <a:tblPr/>
              <a:tblGrid>
                <a:gridCol w="4735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Accuracy (%)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Awad &amp; Hassaballah (2019)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Muzzle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75.70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Li et al. (2022)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Muzzle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91.00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Gaber et al. (2022)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Muzzle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71.80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598299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Lee et al. (2023)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Muzzle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92.10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544094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Xu et al. (2022)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Face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/>
                        <a:t>91.30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830580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Bergman et al. (2024)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Face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96.30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Kumar et al. (2025)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Face+Muzzle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93.67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Ours — Stage 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Face+Muzzle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95.16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Ours — Stage 2 ✓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Face+Muzzle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97.13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96943B2-EC0D-42CA-9A72-AED9C706171A}"/>
              </a:ext>
            </a:extLst>
          </p:cNvPr>
          <p:cNvSpPr txBox="1"/>
          <p:nvPr/>
        </p:nvSpPr>
        <p:spPr>
          <a:xfrm>
            <a:off x="142043" y="58625"/>
            <a:ext cx="9250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Comparison with biometric methods.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46C838-C726-4CA0-9071-DB7060FB7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428880"/>
              </p:ext>
            </p:extLst>
          </p:nvPr>
        </p:nvGraphicFramePr>
        <p:xfrm>
          <a:off x="383219" y="5003949"/>
          <a:ext cx="11425562" cy="1798654"/>
        </p:xfrm>
        <a:graphic>
          <a:graphicData uri="http://schemas.openxmlformats.org/drawingml/2006/table">
            <a:tbl>
              <a:tblPr/>
              <a:tblGrid>
                <a:gridCol w="6480700">
                  <a:extLst>
                    <a:ext uri="{9D8B030D-6E8A-4147-A177-3AD203B41FA5}">
                      <a16:colId xmlns:a16="http://schemas.microsoft.com/office/drawing/2014/main" val="1458170109"/>
                    </a:ext>
                  </a:extLst>
                </a:gridCol>
                <a:gridCol w="1908699">
                  <a:extLst>
                    <a:ext uri="{9D8B030D-6E8A-4147-A177-3AD203B41FA5}">
                      <a16:colId xmlns:a16="http://schemas.microsoft.com/office/drawing/2014/main" val="2041111190"/>
                    </a:ext>
                  </a:extLst>
                </a:gridCol>
                <a:gridCol w="1384916">
                  <a:extLst>
                    <a:ext uri="{9D8B030D-6E8A-4147-A177-3AD203B41FA5}">
                      <a16:colId xmlns:a16="http://schemas.microsoft.com/office/drawing/2014/main" val="843863047"/>
                    </a:ext>
                  </a:extLst>
                </a:gridCol>
                <a:gridCol w="1651247">
                  <a:extLst>
                    <a:ext uri="{9D8B030D-6E8A-4147-A177-3AD203B41FA5}">
                      <a16:colId xmlns:a16="http://schemas.microsoft.com/office/drawing/2014/main" val="593952676"/>
                    </a:ext>
                  </a:extLst>
                </a:gridCol>
              </a:tblGrid>
              <a:tr h="6077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 Cattle-1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Cattle-2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 Cattle-3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653495"/>
                  </a:ext>
                </a:extLst>
              </a:tr>
              <a:tr h="489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Cattle Verification with Pair wise triplet loss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Kumar et al. (2025)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94.42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93.21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89.37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650679"/>
                  </a:ext>
                </a:extLst>
              </a:tr>
              <a:tr h="4898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/>
                        <a:t>Multi-modal Cattle verification (ours)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97.13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/>
                        <a:t>98.67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95.21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7160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F1EE42E-6C16-4ADE-95D2-4C20842F673D}"/>
              </a:ext>
            </a:extLst>
          </p:cNvPr>
          <p:cNvSpPr txBox="1"/>
          <p:nvPr/>
        </p:nvSpPr>
        <p:spPr>
          <a:xfrm>
            <a:off x="142043" y="4474885"/>
            <a:ext cx="9250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Comparison with State of the Art methods.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63E8F-C6D3-496C-B79B-AED9E445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13" y="129494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4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9509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vs. Muzzle-Only vs. Multi-modal (Stage 2) — Accuracy %</a:t>
            </a:r>
            <a:endParaRPr lang="en-US" sz="1467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/>
          </p:nvPr>
        </p:nvGraphicFramePr>
        <p:xfrm>
          <a:off x="365760" y="1365504"/>
          <a:ext cx="11338560" cy="150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Cattle-1 Face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Cattle-1 Muzzle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Cattle-1 Multi ✓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Cattle-2 Face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Cattle-2 Muzzle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Cattle-2 Multi ✓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Cattle-3 Face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Cattle-3 Muzzle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Cattle-3 Multi ✓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97.72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97.00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97.13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99.05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97.31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98.67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94.22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91.63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95.21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AUC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99.81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99.66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99.70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99.96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99.33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99.87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98.83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95.28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7E8C"/>
                          </a:solidFill>
                        </a:rPr>
                        <a:t>98.93</a:t>
                      </a:r>
                      <a:endParaRPr lang="en-US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6611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3729410"/>
            <a:ext cx="3596640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3729410"/>
            <a:ext cx="3596640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7680" y="377817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3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Face &gt; Muzzle in isolation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5293" y="4574741"/>
            <a:ext cx="3474720" cy="1135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consistently outperforms muzzle-only. Muzzle quality can be affected by imperfect YOLO11 extraction and background noise.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89118" y="3729410"/>
            <a:ext cx="3596641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10"/>
          <p:cNvSpPr/>
          <p:nvPr/>
        </p:nvSpPr>
        <p:spPr>
          <a:xfrm>
            <a:off x="4389118" y="3729410"/>
            <a:ext cx="3596642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377817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3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Multi-modal wins on hard data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50078" y="4408107"/>
            <a:ext cx="3474720" cy="1469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challenging Cattle-3 (Indian breeds, varied lighting), multi-modal fusion improves over face-only: 95.21% vs 94.22%. CAR leverages complementarity when both modalities are less reliable.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90556" y="3729410"/>
            <a:ext cx="3596643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90556" y="3729410"/>
            <a:ext cx="3596644" cy="463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0560" y="377817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3B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Fusion benefit depends on quality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51517" y="4408107"/>
            <a:ext cx="3474720" cy="1362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Cattle-1 and Cattle-2, face-only slightly edges out fusion — but Stage-2 multi-modal still achieves the highest accuracy by combining all signals.</a:t>
            </a:r>
            <a:endParaRPr lang="en-US" sz="16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42BB4CAB-BDBD-443F-BC28-C0432D687ECC}"/>
              </a:ext>
            </a:extLst>
          </p:cNvPr>
          <p:cNvSpPr/>
          <p:nvPr/>
        </p:nvSpPr>
        <p:spPr>
          <a:xfrm>
            <a:off x="187075" y="81355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latin typeface="+mj-lt"/>
                <a:ea typeface="Calibri" pitchFamily="34" charset="-122"/>
                <a:cs typeface="Calibri" pitchFamily="34" charset="-120"/>
              </a:rPr>
              <a:t>Ablation Study — Unimodal vs Multi-modal</a:t>
            </a:r>
            <a:endParaRPr lang="en-US" sz="2800" dirty="0">
              <a:latin typeface="+mj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415CF2-0ED6-491F-900B-C3CBCB6A9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13" y="129494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5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B9CA7-E40B-49F7-809B-E6ABFC73DAB0}"/>
              </a:ext>
            </a:extLst>
          </p:cNvPr>
          <p:cNvSpPr txBox="1"/>
          <p:nvPr/>
        </p:nvSpPr>
        <p:spPr>
          <a:xfrm>
            <a:off x="268448" y="268448"/>
            <a:ext cx="2281805" cy="4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2C0B9-7A85-4F21-AB64-9B0A12D84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3" t="6213" r="4939" b="2652"/>
          <a:stretch/>
        </p:blipFill>
        <p:spPr>
          <a:xfrm>
            <a:off x="1999799" y="85630"/>
            <a:ext cx="6999633" cy="4515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1B5E945-AD36-4589-9E62-AA07CA66D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29" y="5333362"/>
            <a:ext cx="115254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attention patterns across all three datasets confirm that the ViT backbone has learned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modality-appropriate discriminative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dataset-specific artefacts.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qualitative validation corroborates the quantitative results — the model is attending to the same regions a domain expert would identify as most informative for biometric identification.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C89AD-0E83-45C0-B795-71954B7C3D21}"/>
              </a:ext>
            </a:extLst>
          </p:cNvPr>
          <p:cNvSpPr txBox="1"/>
          <p:nvPr/>
        </p:nvSpPr>
        <p:spPr>
          <a:xfrm>
            <a:off x="2550253" y="4739656"/>
            <a:ext cx="6375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Cattle-1 (A),                 Cattle-2 (B),                    Cattle-3 (C)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748DB1-4461-4303-9027-F7DB4DE35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5313" y="129494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69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5">
            <a:extLst>
              <a:ext uri="{FF2B5EF4-FFF2-40B4-BE49-F238E27FC236}">
                <a16:creationId xmlns:a16="http://schemas.microsoft.com/office/drawing/2014/main" id="{CE5D4E01-FB18-4CAC-8616-58F6CB29AB03}"/>
              </a:ext>
            </a:extLst>
          </p:cNvPr>
          <p:cNvSpPr/>
          <p:nvPr/>
        </p:nvSpPr>
        <p:spPr>
          <a:xfrm>
            <a:off x="134112" y="1311031"/>
            <a:ext cx="5961888" cy="485071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8960" y="121920"/>
            <a:ext cx="1219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FFFFFF"/>
                </a:solidFill>
              </a:rPr>
              <a:t>14 / 14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365759" y="1445143"/>
            <a:ext cx="5508931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19" y="1506104"/>
            <a:ext cx="5386511" cy="3520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86062"/>
            <a:ext cx="306052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952" y="2110446"/>
            <a:ext cx="293810" cy="41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792479" y="2086062"/>
            <a:ext cx="5019249" cy="473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multi-modal framework: shared ViT backbone + CAR module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915118"/>
            <a:ext cx="306052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952" y="2939502"/>
            <a:ext cx="293810" cy="41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792479" y="2915118"/>
            <a:ext cx="5019249" cy="473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Multi-Similarity Loss with hard pair mining — outperforms triplet loss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744174"/>
            <a:ext cx="306052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952" y="3768558"/>
            <a:ext cx="293810" cy="41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792479" y="3744174"/>
            <a:ext cx="5019249" cy="473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YOLO11 muzzle extraction — no manual preprocessing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4573230"/>
            <a:ext cx="306052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952" y="4597614"/>
            <a:ext cx="293810" cy="41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792479" y="4573230"/>
            <a:ext cx="5019249" cy="473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3 datasets: up to 98.67% acc. &amp; 99.87% AUC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5402286"/>
            <a:ext cx="306052" cy="473851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952" y="5426670"/>
            <a:ext cx="293810" cy="41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792479" y="5402286"/>
            <a:ext cx="5019249" cy="473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Cattle-3: first verification benchmark for Indian cattle breeds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8447ED-5D63-4482-850A-40A8E1D8E5EF}"/>
              </a:ext>
            </a:extLst>
          </p:cNvPr>
          <p:cNvSpPr txBox="1"/>
          <p:nvPr/>
        </p:nvSpPr>
        <p:spPr>
          <a:xfrm>
            <a:off x="365760" y="226503"/>
            <a:ext cx="4885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Conclusion and Future Work</a:t>
            </a:r>
            <a:endParaRPr lang="en-IN" sz="2800" dirty="0">
              <a:latin typeface="+mj-lt"/>
            </a:endParaRPr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E42424E4-02FA-4EE2-A1DE-4746CE7D7CE8}"/>
              </a:ext>
            </a:extLst>
          </p:cNvPr>
          <p:cNvSpPr/>
          <p:nvPr/>
        </p:nvSpPr>
        <p:spPr>
          <a:xfrm>
            <a:off x="6216667" y="1281063"/>
            <a:ext cx="5731493" cy="712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3" name="Shape 22">
            <a:extLst>
              <a:ext uri="{FF2B5EF4-FFF2-40B4-BE49-F238E27FC236}">
                <a16:creationId xmlns:a16="http://schemas.microsoft.com/office/drawing/2014/main" id="{DF2E53A7-0CF3-45BD-9C82-22DE48E21949}"/>
              </a:ext>
            </a:extLst>
          </p:cNvPr>
          <p:cNvSpPr/>
          <p:nvPr/>
        </p:nvSpPr>
        <p:spPr>
          <a:xfrm>
            <a:off x="6216667" y="2103414"/>
            <a:ext cx="5731493" cy="712719"/>
          </a:xfrm>
          <a:prstGeom prst="rect">
            <a:avLst/>
          </a:prstGeom>
          <a:solidFill>
            <a:srgbClr val="0F2A3E"/>
          </a:solidFill>
          <a:ln/>
        </p:spPr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E953ACA8-06CA-421D-A10E-EC2C991EB8AE}"/>
              </a:ext>
            </a:extLst>
          </p:cNvPr>
          <p:cNvSpPr/>
          <p:nvPr/>
        </p:nvSpPr>
        <p:spPr>
          <a:xfrm>
            <a:off x="6216667" y="2919192"/>
            <a:ext cx="5731493" cy="725998"/>
          </a:xfrm>
          <a:prstGeom prst="rect">
            <a:avLst/>
          </a:prstGeom>
          <a:solidFill>
            <a:srgbClr val="122E44"/>
          </a:solidFill>
          <a:ln/>
        </p:spPr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E607BD13-EA82-4B59-97AF-78B6D2A65FEE}"/>
              </a:ext>
            </a:extLst>
          </p:cNvPr>
          <p:cNvSpPr/>
          <p:nvPr/>
        </p:nvSpPr>
        <p:spPr>
          <a:xfrm>
            <a:off x="6216667" y="3718477"/>
            <a:ext cx="5731493" cy="769949"/>
          </a:xfrm>
          <a:prstGeom prst="rect">
            <a:avLst/>
          </a:prstGeom>
          <a:solidFill>
            <a:srgbClr val="0F2A3E"/>
          </a:solidFill>
          <a:ln/>
        </p:spPr>
      </p:sp>
      <p:sp>
        <p:nvSpPr>
          <p:cNvPr id="52" name="Shape 31">
            <a:extLst>
              <a:ext uri="{FF2B5EF4-FFF2-40B4-BE49-F238E27FC236}">
                <a16:creationId xmlns:a16="http://schemas.microsoft.com/office/drawing/2014/main" id="{9B61B57E-6172-4153-AA81-33EC48C804E4}"/>
              </a:ext>
            </a:extLst>
          </p:cNvPr>
          <p:cNvSpPr/>
          <p:nvPr/>
        </p:nvSpPr>
        <p:spPr>
          <a:xfrm>
            <a:off x="6216667" y="4576918"/>
            <a:ext cx="5731493" cy="755767"/>
          </a:xfrm>
          <a:prstGeom prst="rect">
            <a:avLst/>
          </a:prstGeom>
          <a:solidFill>
            <a:srgbClr val="122E44"/>
          </a:solidFill>
          <a:ln/>
        </p:spPr>
      </p:sp>
      <p:sp>
        <p:nvSpPr>
          <p:cNvPr id="55" name="Shape 34">
            <a:extLst>
              <a:ext uri="{FF2B5EF4-FFF2-40B4-BE49-F238E27FC236}">
                <a16:creationId xmlns:a16="http://schemas.microsoft.com/office/drawing/2014/main" id="{EE39EC65-F2A2-4358-86EA-11E204741FA8}"/>
              </a:ext>
            </a:extLst>
          </p:cNvPr>
          <p:cNvSpPr/>
          <p:nvPr/>
        </p:nvSpPr>
        <p:spPr>
          <a:xfrm>
            <a:off x="6216667" y="5405974"/>
            <a:ext cx="5731493" cy="755767"/>
          </a:xfrm>
          <a:prstGeom prst="rect">
            <a:avLst/>
          </a:prstGeom>
          <a:solidFill>
            <a:srgbClr val="0F2A3E"/>
          </a:solidFill>
          <a:ln/>
        </p:spPr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FB13F8BA-41DA-42F2-BDD3-23778ECB286C}"/>
              </a:ext>
            </a:extLst>
          </p:cNvPr>
          <p:cNvSpPr/>
          <p:nvPr/>
        </p:nvSpPr>
        <p:spPr>
          <a:xfrm>
            <a:off x="6216667" y="1517177"/>
            <a:ext cx="54864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F32A3D80-23C1-4CEF-B9F3-E40F39FD3AA1}"/>
              </a:ext>
            </a:extLst>
          </p:cNvPr>
          <p:cNvSpPr/>
          <p:nvPr/>
        </p:nvSpPr>
        <p:spPr>
          <a:xfrm>
            <a:off x="6315456" y="213924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Small identity pool</a:t>
            </a:r>
            <a:endParaRPr lang="en-US" sz="1267" dirty="0"/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4D223D2F-BE9C-48F0-983B-195BE3CF97C4}"/>
              </a:ext>
            </a:extLst>
          </p:cNvPr>
          <p:cNvSpPr/>
          <p:nvPr/>
        </p:nvSpPr>
        <p:spPr>
          <a:xfrm>
            <a:off x="6315456" y="2407465"/>
            <a:ext cx="5303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Evaluate on larger, more diverse cattle populations</a:t>
            </a:r>
            <a:endParaRPr lang="en-US" sz="1333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3A5BF246-8D7C-494C-AC7A-F59DE8EF4715}"/>
              </a:ext>
            </a:extLst>
          </p:cNvPr>
          <p:cNvSpPr/>
          <p:nvPr/>
        </p:nvSpPr>
        <p:spPr>
          <a:xfrm>
            <a:off x="6315456" y="2960011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Requires both modalities</a:t>
            </a:r>
            <a:endParaRPr lang="en-US" sz="1267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B859E5A6-E3A1-43B9-BC36-B1F699AB1383}"/>
              </a:ext>
            </a:extLst>
          </p:cNvPr>
          <p:cNvSpPr/>
          <p:nvPr/>
        </p:nvSpPr>
        <p:spPr>
          <a:xfrm>
            <a:off x="6315456" y="3228235"/>
            <a:ext cx="5303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Develop single-modal fallback when muzzle unavailable</a:t>
            </a:r>
            <a:endParaRPr lang="en-US" sz="1333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0FF57A2B-835F-426E-AAF1-68DF3D62C4CC}"/>
              </a:ext>
            </a:extLst>
          </p:cNvPr>
          <p:cNvSpPr/>
          <p:nvPr/>
        </p:nvSpPr>
        <p:spPr>
          <a:xfrm>
            <a:off x="6315456" y="380368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Low-light not explored</a:t>
            </a:r>
            <a:endParaRPr lang="en-US" sz="1267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FF6CD5E9-B82E-4856-8B5C-9BEC0240D762}"/>
              </a:ext>
            </a:extLst>
          </p:cNvPr>
          <p:cNvSpPr/>
          <p:nvPr/>
        </p:nvSpPr>
        <p:spPr>
          <a:xfrm>
            <a:off x="6315456" y="4071910"/>
            <a:ext cx="5303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 under night-time, motion-blur conditions</a:t>
            </a:r>
            <a:endParaRPr lang="en-US" sz="1333" dirty="0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D5B1D795-91C1-4CDE-8CD1-CA2DB40A4DD2}"/>
              </a:ext>
            </a:extLst>
          </p:cNvPr>
          <p:cNvSpPr/>
          <p:nvPr/>
        </p:nvSpPr>
        <p:spPr>
          <a:xfrm>
            <a:off x="6315456" y="4626585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Compute-intensive ViT</a:t>
            </a:r>
            <a:endParaRPr lang="en-US" sz="1267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004423F4-D610-4C08-8F32-ADA13080947C}"/>
              </a:ext>
            </a:extLst>
          </p:cNvPr>
          <p:cNvSpPr/>
          <p:nvPr/>
        </p:nvSpPr>
        <p:spPr>
          <a:xfrm>
            <a:off x="6315456" y="4894809"/>
            <a:ext cx="5303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Integrate MobileViT for edge/farm device deployment</a:t>
            </a:r>
            <a:endParaRPr lang="en-US" sz="1333" dirty="0"/>
          </a:p>
        </p:txBody>
      </p:sp>
      <p:sp>
        <p:nvSpPr>
          <p:cNvPr id="67" name="Text 35">
            <a:extLst>
              <a:ext uri="{FF2B5EF4-FFF2-40B4-BE49-F238E27FC236}">
                <a16:creationId xmlns:a16="http://schemas.microsoft.com/office/drawing/2014/main" id="{4DC9A04E-F664-41F2-975E-020271299DE0}"/>
              </a:ext>
            </a:extLst>
          </p:cNvPr>
          <p:cNvSpPr/>
          <p:nvPr/>
        </p:nvSpPr>
        <p:spPr>
          <a:xfrm>
            <a:off x="6315457" y="54350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Separate preprocessing</a:t>
            </a:r>
            <a:endParaRPr lang="en-US" sz="1267" dirty="0"/>
          </a:p>
        </p:txBody>
      </p:sp>
      <p:sp>
        <p:nvSpPr>
          <p:cNvPr id="68" name="Text 36">
            <a:extLst>
              <a:ext uri="{FF2B5EF4-FFF2-40B4-BE49-F238E27FC236}">
                <a16:creationId xmlns:a16="http://schemas.microsoft.com/office/drawing/2014/main" id="{D914344D-0E7D-4440-88AB-7CF177E24312}"/>
              </a:ext>
            </a:extLst>
          </p:cNvPr>
          <p:cNvSpPr/>
          <p:nvPr/>
        </p:nvSpPr>
        <p:spPr>
          <a:xfrm>
            <a:off x="6315457" y="5703300"/>
            <a:ext cx="53035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Fully integrated end-to-end pipeline with YOLO embedded</a:t>
            </a:r>
            <a:endParaRPr lang="en-US" sz="1333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F64981B-FC3D-4F3C-8501-A582CE79ED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158775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46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C4DEE-210E-4CD0-82A1-41B8D4C9AAB3}"/>
              </a:ext>
            </a:extLst>
          </p:cNvPr>
          <p:cNvSpPr txBox="1"/>
          <p:nvPr/>
        </p:nvSpPr>
        <p:spPr>
          <a:xfrm>
            <a:off x="532660" y="514905"/>
            <a:ext cx="7324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Paper Submission</a:t>
            </a:r>
            <a:endParaRPr lang="en-IN" sz="2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C35EB-CF66-4E05-ADF2-6AAEFA3CC51C}"/>
              </a:ext>
            </a:extLst>
          </p:cNvPr>
          <p:cNvSpPr txBox="1"/>
          <p:nvPr/>
        </p:nvSpPr>
        <p:spPr>
          <a:xfrm>
            <a:off x="266330" y="2015231"/>
            <a:ext cx="116593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Paper Title : </a:t>
            </a:r>
          </a:p>
          <a:p>
            <a:r>
              <a:rPr lang="en-GB" sz="2000" dirty="0"/>
              <a:t>Multi-modal Cattle Verification Using Vision Transformers and Cross-Attention Refinement</a:t>
            </a:r>
          </a:p>
          <a:p>
            <a:r>
              <a:rPr lang="en-GB" sz="2400" dirty="0"/>
              <a:t>Conference Name :</a:t>
            </a:r>
            <a:endParaRPr lang="en-IN" sz="2400" dirty="0"/>
          </a:p>
          <a:p>
            <a:r>
              <a:rPr lang="en-GB" sz="2000" dirty="0"/>
              <a:t>National Conference on Computer Vision, Pattern Recognition, Image Processing and Graphics</a:t>
            </a: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2F244-F22F-439F-87E4-F91A301B3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158775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0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BB9CA7-E40B-49F7-809B-E6ABFC73DAB0}"/>
              </a:ext>
            </a:extLst>
          </p:cNvPr>
          <p:cNvSpPr txBox="1"/>
          <p:nvPr/>
        </p:nvSpPr>
        <p:spPr>
          <a:xfrm>
            <a:off x="268448" y="268448"/>
            <a:ext cx="2281805" cy="4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AA764-FD26-4E01-8B2F-AD74BB52CA54}"/>
              </a:ext>
            </a:extLst>
          </p:cNvPr>
          <p:cNvSpPr txBox="1"/>
          <p:nvPr/>
        </p:nvSpPr>
        <p:spPr>
          <a:xfrm>
            <a:off x="377505" y="268448"/>
            <a:ext cx="2785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References</a:t>
            </a:r>
            <a:endParaRPr lang="en-IN" sz="28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8E5BC-19FD-4F00-AC5B-5657506C8DFF}"/>
              </a:ext>
            </a:extLst>
          </p:cNvPr>
          <p:cNvSpPr txBox="1"/>
          <p:nvPr/>
        </p:nvSpPr>
        <p:spPr>
          <a:xfrm>
            <a:off x="377505" y="1132514"/>
            <a:ext cx="113922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Kumar, N., Sharma, A., Kumar, A., et al.: Cattle verification with YOLO and cross-attention encoder-based pairwise triplet loss. Computers and Electronics in Agriculture 234, 110223 (2025). </a:t>
            </a:r>
            <a:r>
              <a:rPr lang="en-GB" u="sng" dirty="0">
                <a:solidFill>
                  <a:srgbClr val="00B0F0"/>
                </a:solidFill>
              </a:rPr>
              <a:t>https://doi.org/10.1016/j.compag.2025. 110223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Pandey, S., Jawade, B., Setlur, S.: RidgeFormer: Multi-stage contrastive training for fine-grained cross-domain fingerprint recognition. In: Proceedings of the IEEE International Conference on Image Processing (ICIP). Anchorage, Alaska, USA (2025), </a:t>
            </a:r>
            <a:r>
              <a:rPr lang="en-IN" u="sng" dirty="0">
                <a:solidFill>
                  <a:srgbClr val="00B0F0"/>
                </a:solidFill>
              </a:rPr>
              <a:t>arXiv:2506.01806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Shojaeipour, A., Falzon, G., Kwan, P., et al.: Automated muzzle detection and biometric identification via few-shot deep transfer learning of mixed breed cattle. Agronomy 11(11), 2365 (2021). </a:t>
            </a:r>
            <a:r>
              <a:rPr lang="en-GB" u="sng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https://doi.org/10.3390/agronomy11112365</a:t>
            </a:r>
            <a:endParaRPr lang="en-GB" u="sng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Ahmed, S.U., Frnda, J., Waqas, M., Khan, M.H.: Dataset of cattle biometrics through muzzle images. Data in Brief 53, 110125 (2024). </a:t>
            </a:r>
            <a:r>
              <a:rPr lang="en-IN" u="sng" dirty="0">
                <a:solidFill>
                  <a:srgbClr val="00B0F0"/>
                </a:solidFill>
              </a:rPr>
              <a:t>https://doi.org/10. 1016/j.dib.2024.110125</a:t>
            </a:r>
            <a:r>
              <a:rPr lang="en-IN" dirty="0"/>
              <a:t>, open access via PMC: https://pmc.ncbi.nlm.nih. gov/articles/PMC10869238/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Jocher, G., Qiu, J.: Ultralytics YOLO11. https://github.com/ultralytics/ ultralytics (2024), version 11.0.0. License: AGPL-3.0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Wang, X., Han, X., Huang, W., Dong, D., Scott, M.R.: Multi-similarity loss with general pair weighting for deep metric learning. In: Proceedings of the IEEE/CVF Conference on Computer Vision and Pattern Recognition (CVPR). pp. 5022–5030 (2019). </a:t>
            </a:r>
            <a:r>
              <a:rPr lang="en-IN" u="sng" dirty="0">
                <a:solidFill>
                  <a:srgbClr val="00B0F0"/>
                </a:solidFill>
                <a:hlinkClick r:id="rId3"/>
              </a:rPr>
              <a:t>https://doi.org/10.1109/CVPR.2019.00516</a:t>
            </a:r>
            <a:endParaRPr lang="en-IN" u="sng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Jurafsky, D., &amp; Martin, J. H. (2023). </a:t>
            </a:r>
            <a:r>
              <a:rPr lang="en-GB" i="1" dirty="0"/>
              <a:t>Speech and Language Processing</a:t>
            </a:r>
            <a:r>
              <a:rPr lang="en-GB" dirty="0"/>
              <a:t> (3rd ed.). Draft. Available at: </a:t>
            </a:r>
            <a:r>
              <a:rPr lang="en-GB" dirty="0">
                <a:hlinkClick r:id="rId4"/>
              </a:rPr>
              <a:t>https://web.stanford.edu/~jurafsky/slp3/</a:t>
            </a:r>
            <a:endParaRPr lang="en-IN" u="sng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32921-5680-4D05-B884-767DF6C88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158775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31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497605-676C-4398-BCE3-0257B70F6CED}"/>
              </a:ext>
            </a:extLst>
          </p:cNvPr>
          <p:cNvSpPr txBox="1"/>
          <p:nvPr/>
        </p:nvSpPr>
        <p:spPr>
          <a:xfrm>
            <a:off x="1420382" y="2367617"/>
            <a:ext cx="4323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+mj-lt"/>
              </a:rPr>
              <a:t>THANK YOU!</a:t>
            </a:r>
            <a:endParaRPr lang="en-IN" sz="60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FB653-839A-464F-8AF7-BABABC441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925" y="1435461"/>
            <a:ext cx="3444535" cy="46339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CE9B32-8B46-46E0-92F3-89D025851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560" y="158775"/>
            <a:ext cx="483206" cy="4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6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1689</TotalTime>
  <Words>1601</Words>
  <Application>Microsoft Office PowerPoint</Application>
  <PresentationFormat>Widescreen</PresentationFormat>
  <Paragraphs>289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Multi-modal Cattle Verification Using Vision Transformers and Cross-Attention Refinement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446</cp:revision>
  <dcterms:created xsi:type="dcterms:W3CDTF">2026-04-06T04:43:41Z</dcterms:created>
  <dcterms:modified xsi:type="dcterms:W3CDTF">2026-04-19T05:12:30Z</dcterms:modified>
</cp:coreProperties>
</file>